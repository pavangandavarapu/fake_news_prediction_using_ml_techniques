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70" r:id="rId3"/>
    <p:sldId id="271" r:id="rId4"/>
    <p:sldId id="272" r:id="rId5"/>
    <p:sldId id="273" r:id="rId6"/>
    <p:sldId id="274" r:id="rId7"/>
    <p:sldId id="275" r:id="rId8"/>
    <p:sldId id="276" r:id="rId9"/>
    <p:sldId id="279" r:id="rId10"/>
    <p:sldId id="282" r:id="rId11"/>
    <p:sldId id="281" r:id="rId12"/>
    <p:sldId id="277" r:id="rId13"/>
    <p:sldId id="27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2"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8281CC5B-CB96-48E6-8449-6F9BDC69867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0456F1-87E7-499D-9334-9B04CF76AF61}"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8281CC5B-CB96-48E6-8449-6F9BDC69867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0456F1-87E7-499D-9334-9B04CF76AF61}"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8281CC5B-CB96-48E6-8449-6F9BDC69867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0456F1-87E7-499D-9334-9B04CF76AF61}"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8281CC5B-CB96-48E6-8449-6F9BDC69867E}"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0456F1-87E7-499D-9334-9B04CF76AF61}"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8281CC5B-CB96-48E6-8449-6F9BDC69867E}"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B0456F1-87E7-499D-9334-9B04CF76AF61}"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8281CC5B-CB96-48E6-8449-6F9BDC69867E}"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B0456F1-87E7-499D-9334-9B04CF76AF61}"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81CC5B-CB96-48E6-8449-6F9BDC69867E}"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B0456F1-87E7-499D-9334-9B04CF76AF61}"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8281CC5B-CB96-48E6-8449-6F9BDC69867E}"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0456F1-87E7-499D-9334-9B04CF76AF61}"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8281CC5B-CB96-48E6-8449-6F9BDC69867E}"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0456F1-87E7-499D-9334-9B04CF76AF61}"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8281CC5B-CB96-48E6-8449-6F9BDC69867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0456F1-87E7-499D-9334-9B04CF76AF61}"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8281CC5B-CB96-48E6-8449-6F9BDC69867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0456F1-87E7-499D-9334-9B04CF76AF61}"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81CC5B-CB96-48E6-8449-6F9BDC69867E}"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0456F1-87E7-499D-9334-9B04CF76AF61}"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p:cNvSpPr>
            <a:spLocks noGrp="1" noRot="1" noChangeAspect="1" noMove="1" noResize="1" noEditPoints="1" noAdjustHandles="1" noChangeArrowheads="1" noChangeShapeType="1" noTextEdit="1"/>
          </p:cNvSpPr>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picture containing text&#10;&#10;Description automatically generated"/>
          <p:cNvPicPr>
            <a:picLocks noChangeAspect="1"/>
          </p:cNvPicPr>
          <p:nvPr/>
        </p:nvPicPr>
        <p:blipFill rotWithShape="1">
          <a:blip r:embed="rId1">
            <a:alphaModFix amt="35000"/>
            <a:extLst>
              <a:ext uri="{28A0092B-C50C-407E-A947-70E740481C1C}">
                <a14:useLocalDpi xmlns:a14="http://schemas.microsoft.com/office/drawing/2010/main" val="0"/>
              </a:ext>
            </a:extLst>
          </a:blip>
          <a:srcRect r="444"/>
          <a:stretch>
            <a:fillRect/>
          </a:stretch>
        </p:blipFill>
        <p:spPr>
          <a:xfrm>
            <a:off x="20" y="10"/>
            <a:ext cx="12191980" cy="6857990"/>
          </a:xfrm>
          <a:prstGeom prst="rect">
            <a:avLst/>
          </a:prstGeom>
        </p:spPr>
      </p:pic>
      <p:sp>
        <p:nvSpPr>
          <p:cNvPr id="3" name="TextBox 2"/>
          <p:cNvSpPr txBox="1"/>
          <p:nvPr/>
        </p:nvSpPr>
        <p:spPr>
          <a:xfrm>
            <a:off x="838200" y="1144587"/>
            <a:ext cx="10515600" cy="1722437"/>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6000" dirty="0">
                <a:solidFill>
                  <a:srgbClr val="FFFFFF"/>
                </a:solidFill>
                <a:latin typeface="Times New Roman" panose="02020603050405020304" pitchFamily="18" charset="0"/>
                <a:ea typeface="+mj-ea"/>
                <a:cs typeface="Times New Roman" panose="02020603050405020304" pitchFamily="18" charset="0"/>
              </a:rPr>
              <a:t>Fake News Prediction</a:t>
            </a:r>
            <a:endParaRPr lang="en-US" sz="6000" dirty="0">
              <a:solidFill>
                <a:srgbClr val="FFFFFF"/>
              </a:solidFill>
              <a:latin typeface="Times New Roman" panose="02020603050405020304" pitchFamily="18" charset="0"/>
              <a:ea typeface="+mj-ea"/>
              <a:cs typeface="Times New Roman" panose="02020603050405020304" pitchFamily="18" charset="0"/>
            </a:endParaRPr>
          </a:p>
        </p:txBody>
      </p:sp>
      <p:sp>
        <p:nvSpPr>
          <p:cNvPr id="5" name="TextBox 4"/>
          <p:cNvSpPr txBox="1"/>
          <p:nvPr/>
        </p:nvSpPr>
        <p:spPr>
          <a:xfrm>
            <a:off x="838200" y="1866265"/>
            <a:ext cx="10515600" cy="4351338"/>
          </a:xfrm>
          <a:prstGeom prst="rect">
            <a:avLst/>
          </a:prstGeom>
        </p:spPr>
        <p:txBody>
          <a:bodyPr vert="horz" lIns="91440" tIns="45720" rIns="91440" bIns="45720" rtlCol="0">
            <a:normAutofit/>
          </a:bodyPr>
          <a:lstStyle/>
          <a:p>
            <a:pPr marL="1143000" lvl="3">
              <a:lnSpc>
                <a:spcPct val="90000"/>
              </a:lnSpc>
              <a:spcAft>
                <a:spcPts val="600"/>
              </a:spcAft>
            </a:pPr>
            <a:endParaRPr lang="en-US" dirty="0">
              <a:solidFill>
                <a:srgbClr val="FFFFFF"/>
              </a:solidFill>
            </a:endParaRPr>
          </a:p>
          <a:p>
            <a:pPr marL="1143000" lvl="3">
              <a:lnSpc>
                <a:spcPct val="90000"/>
              </a:lnSpc>
              <a:spcAft>
                <a:spcPts val="600"/>
              </a:spcAft>
            </a:pPr>
            <a:endParaRPr lang="en-US" dirty="0">
              <a:solidFill>
                <a:srgbClr val="FFFFFF"/>
              </a:solidFill>
            </a:endParaRPr>
          </a:p>
          <a:p>
            <a:pPr marL="1143000" lvl="3">
              <a:lnSpc>
                <a:spcPct val="90000"/>
              </a:lnSpc>
              <a:spcAft>
                <a:spcPts val="600"/>
              </a:spcAft>
            </a:pPr>
            <a:endParaRPr lang="en-US" dirty="0">
              <a:solidFill>
                <a:srgbClr val="FFFFFF"/>
              </a:solidFill>
            </a:endParaRPr>
          </a:p>
          <a:p>
            <a:pPr marL="1143000" lvl="3">
              <a:lnSpc>
                <a:spcPct val="90000"/>
              </a:lnSpc>
              <a:spcAft>
                <a:spcPts val="600"/>
              </a:spcAft>
            </a:pPr>
            <a:endParaRPr lang="en-US" dirty="0">
              <a:solidFill>
                <a:srgbClr val="FFFFFF"/>
              </a:solidFill>
            </a:endParaRPr>
          </a:p>
          <a:p>
            <a:pPr marL="1143000" lvl="3">
              <a:lnSpc>
                <a:spcPct val="90000"/>
              </a:lnSpc>
              <a:spcAft>
                <a:spcPts val="600"/>
              </a:spcAft>
            </a:pPr>
            <a:endParaRPr lang="en-US" dirty="0">
              <a:solidFill>
                <a:srgbClr val="FFFFFF"/>
              </a:solidFill>
            </a:endParaRPr>
          </a:p>
          <a:p>
            <a:pPr marL="1143000" lvl="3">
              <a:lnSpc>
                <a:spcPct val="90000"/>
              </a:lnSpc>
              <a:spcAft>
                <a:spcPts val="600"/>
              </a:spcAft>
            </a:pPr>
            <a:endParaRPr lang="en-US" dirty="0">
              <a:solidFill>
                <a:srgbClr val="FFFFFF"/>
              </a:solidFill>
            </a:endParaRPr>
          </a:p>
          <a:p>
            <a:pPr fontAlgn="t">
              <a:lnSpc>
                <a:spcPct val="90000"/>
              </a:lnSpc>
              <a:spcAft>
                <a:spcPts val="600"/>
              </a:spcAft>
            </a:pPr>
            <a:r>
              <a:rPr lang="en-US" b="0" i="0" strike="noStrike" dirty="0">
                <a:solidFill>
                  <a:srgbClr val="FFFFFF"/>
                </a:solidFill>
                <a:effectLst/>
              </a:rPr>
              <a:t>Student Name                          Student ID</a:t>
            </a:r>
            <a:endParaRPr lang="en-US" b="0" i="0" strike="noStrike" dirty="0">
              <a:solidFill>
                <a:srgbClr val="FFFFFF"/>
              </a:solidFill>
              <a:effectLst/>
            </a:endParaRPr>
          </a:p>
          <a:p>
            <a:pPr marR="0" fontAlgn="auto">
              <a:lnSpc>
                <a:spcPct val="90000"/>
              </a:lnSpc>
              <a:spcBef>
                <a:spcPts val="0"/>
              </a:spcBef>
              <a:spcAft>
                <a:spcPts val="600"/>
              </a:spcAft>
            </a:pPr>
            <a:r>
              <a:rPr lang="en-US" b="0" i="0" u="none" strike="noStrike" dirty="0">
                <a:solidFill>
                  <a:srgbClr val="FFFFFF"/>
                </a:solidFill>
                <a:effectLst/>
              </a:rPr>
              <a:t>Divya Tejaswi </a:t>
            </a:r>
            <a:r>
              <a:rPr lang="en-US" b="0" i="0" u="none" strike="noStrike" dirty="0" err="1">
                <a:solidFill>
                  <a:srgbClr val="FFFFFF"/>
                </a:solidFill>
                <a:effectLst/>
              </a:rPr>
              <a:t>Ejjurothu</a:t>
            </a:r>
            <a:r>
              <a:rPr lang="en-US" b="0" i="0" u="none" strike="noStrike" dirty="0">
                <a:solidFill>
                  <a:srgbClr val="FFFFFF"/>
                </a:solidFill>
                <a:effectLst/>
              </a:rPr>
              <a:t>          700745894</a:t>
            </a:r>
            <a:endParaRPr lang="en-US" b="0" i="0" u="none" strike="noStrike" dirty="0">
              <a:solidFill>
                <a:srgbClr val="FFFFFF"/>
              </a:solidFill>
              <a:effectLst/>
            </a:endParaRPr>
          </a:p>
          <a:p>
            <a:pPr>
              <a:lnSpc>
                <a:spcPct val="90000"/>
              </a:lnSpc>
              <a:spcAft>
                <a:spcPts val="600"/>
              </a:spcAft>
            </a:pPr>
            <a:r>
              <a:rPr lang="en-US" b="0" i="0" u="none" strike="noStrike" dirty="0" err="1">
                <a:solidFill>
                  <a:srgbClr val="FFFFFF"/>
                </a:solidFill>
                <a:effectLst/>
              </a:rPr>
              <a:t>Sushmitha</a:t>
            </a:r>
            <a:r>
              <a:rPr lang="en-US" b="0" i="0" u="none" strike="noStrike" dirty="0">
                <a:solidFill>
                  <a:srgbClr val="FFFFFF"/>
                </a:solidFill>
                <a:effectLst/>
              </a:rPr>
              <a:t> </a:t>
            </a:r>
            <a:r>
              <a:rPr lang="en-US" b="0" i="0" u="none" strike="noStrike" dirty="0" err="1">
                <a:solidFill>
                  <a:srgbClr val="FFFFFF"/>
                </a:solidFill>
                <a:effectLst/>
              </a:rPr>
              <a:t>Virri</a:t>
            </a:r>
            <a:r>
              <a:rPr lang="en-US" b="0" i="0" u="none" strike="noStrike" dirty="0">
                <a:solidFill>
                  <a:srgbClr val="FFFFFF"/>
                </a:solidFill>
                <a:effectLst/>
              </a:rPr>
              <a:t>                        </a:t>
            </a:r>
            <a:r>
              <a:rPr lang="en-US" dirty="0">
                <a:solidFill>
                  <a:srgbClr val="FFFFFF"/>
                </a:solidFill>
              </a:rPr>
              <a:t>700742289</a:t>
            </a:r>
            <a:endParaRPr lang="en-US" b="0" i="0" u="none" strike="noStrike" dirty="0">
              <a:solidFill>
                <a:srgbClr val="FFFFFF"/>
              </a:solidFill>
              <a:effectLst/>
            </a:endParaRPr>
          </a:p>
          <a:p>
            <a:pPr>
              <a:lnSpc>
                <a:spcPct val="90000"/>
              </a:lnSpc>
              <a:spcAft>
                <a:spcPts val="600"/>
              </a:spcAft>
            </a:pPr>
            <a:r>
              <a:rPr lang="en-US" b="0" i="0" u="none" strike="noStrike" dirty="0">
                <a:solidFill>
                  <a:srgbClr val="FFFFFF"/>
                </a:solidFill>
                <a:effectLst/>
              </a:rPr>
              <a:t>Vishnu </a:t>
            </a:r>
            <a:r>
              <a:rPr lang="en-US" b="0" i="0" u="none" strike="noStrike" dirty="0" err="1">
                <a:solidFill>
                  <a:srgbClr val="FFFFFF"/>
                </a:solidFill>
                <a:effectLst/>
              </a:rPr>
              <a:t>Ponugoti</a:t>
            </a:r>
            <a:r>
              <a:rPr lang="en-US" b="0" i="0" u="none" strike="noStrike" dirty="0">
                <a:solidFill>
                  <a:srgbClr val="FFFFFF"/>
                </a:solidFill>
                <a:effectLst/>
              </a:rPr>
              <a:t>                      </a:t>
            </a:r>
            <a:r>
              <a:rPr lang="en-US" dirty="0">
                <a:solidFill>
                  <a:srgbClr val="FFFFFF"/>
                </a:solidFill>
              </a:rPr>
              <a:t>700744508</a:t>
            </a:r>
            <a:endParaRPr lang="en-US" b="0" i="0" u="none" strike="noStrike" dirty="0">
              <a:solidFill>
                <a:srgbClr val="FFFFFF"/>
              </a:solidFill>
              <a:effectLst/>
            </a:endParaRPr>
          </a:p>
          <a:p>
            <a:pPr>
              <a:lnSpc>
                <a:spcPct val="90000"/>
              </a:lnSpc>
              <a:spcAft>
                <a:spcPts val="600"/>
              </a:spcAft>
            </a:pPr>
            <a:r>
              <a:rPr lang="en-US" b="0" i="0" u="none" strike="noStrike" dirty="0">
                <a:solidFill>
                  <a:srgbClr val="FFFFFF"/>
                </a:solidFill>
                <a:effectLst/>
              </a:rPr>
              <a:t>Pavan </a:t>
            </a:r>
            <a:r>
              <a:rPr lang="en-US" b="0" i="0" u="none" strike="noStrike" dirty="0" err="1">
                <a:solidFill>
                  <a:srgbClr val="FFFFFF"/>
                </a:solidFill>
                <a:effectLst/>
              </a:rPr>
              <a:t>Gandavarapu</a:t>
            </a:r>
            <a:r>
              <a:rPr lang="en-US" b="0" i="0" u="none" strike="noStrike" dirty="0">
                <a:solidFill>
                  <a:srgbClr val="FFFFFF"/>
                </a:solidFill>
                <a:effectLst/>
              </a:rPr>
              <a:t>                </a:t>
            </a:r>
            <a:r>
              <a:rPr lang="en-US" dirty="0">
                <a:solidFill>
                  <a:srgbClr val="FFFFFF"/>
                </a:solidFill>
              </a:rPr>
              <a:t>700741173</a:t>
            </a:r>
            <a:endParaRPr lang="en-US" b="1" i="0" u="none" strike="noStrike" dirty="0">
              <a:solidFill>
                <a:srgbClr val="FFFFFF"/>
              </a:solidFill>
              <a:effectLst/>
            </a:endParaRPr>
          </a:p>
          <a:p>
            <a:pPr marR="0" fontAlgn="auto">
              <a:lnSpc>
                <a:spcPct val="90000"/>
              </a:lnSpc>
              <a:spcBef>
                <a:spcPts val="0"/>
              </a:spcBef>
              <a:spcAft>
                <a:spcPts val="600"/>
              </a:spcAft>
            </a:pPr>
            <a:r>
              <a:rPr lang="en-US" b="0" i="0" u="none" strike="noStrike" dirty="0">
                <a:solidFill>
                  <a:srgbClr val="FFFFFF"/>
                </a:solidFill>
                <a:effectLst/>
              </a:rPr>
              <a:t>           </a:t>
            </a:r>
            <a:endParaRPr lang="en-US" b="0" i="0" u="none" strike="noStrike" dirty="0">
              <a:solidFill>
                <a:srgbClr val="FFFFFF"/>
              </a:solidFill>
              <a:effectLst/>
            </a:endParaRPr>
          </a:p>
          <a:p>
            <a:pPr lvl="3" indent="-228600">
              <a:lnSpc>
                <a:spcPct val="90000"/>
              </a:lnSpc>
              <a:spcAft>
                <a:spcPts val="600"/>
              </a:spcAft>
              <a:buFont typeface="Arial" panose="020B0604020202020204" pitchFamily="34" charset="0"/>
              <a:buChar char="•"/>
            </a:pPr>
            <a:endParaRPr lang="en-US" dirty="0">
              <a:solidFill>
                <a:srgbClr val="FFFFFF"/>
              </a:solidFill>
            </a:endParaRPr>
          </a:p>
        </p:txBody>
      </p:sp>
      <p:sp>
        <p:nvSpPr>
          <p:cNvPr id="8" name="TextBox 7"/>
          <p:cNvSpPr txBox="1"/>
          <p:nvPr/>
        </p:nvSpPr>
        <p:spPr>
          <a:xfrm flipH="1">
            <a:off x="6548326" y="3694922"/>
            <a:ext cx="1708436" cy="369332"/>
          </a:xfrm>
          <a:prstGeom prst="rect">
            <a:avLst/>
          </a:prstGeom>
          <a:noFill/>
        </p:spPr>
        <p:txBody>
          <a:bodyPr wrap="square" rtlCol="0">
            <a:spAutoFit/>
          </a:bodyPr>
          <a:lstStyle/>
          <a:p>
            <a:endParaRPr lang="en-US" dirty="0"/>
          </a:p>
        </p:txBody>
      </p:sp>
      <p:sp>
        <p:nvSpPr>
          <p:cNvPr id="9" name="TextBox 8"/>
          <p:cNvSpPr txBox="1"/>
          <p:nvPr/>
        </p:nvSpPr>
        <p:spPr>
          <a:xfrm>
            <a:off x="-694352" y="2957807"/>
            <a:ext cx="11857652" cy="646331"/>
          </a:xfrm>
          <a:prstGeom prst="rect">
            <a:avLst/>
          </a:prstGeom>
          <a:noFill/>
        </p:spPr>
        <p:txBody>
          <a:bodyPr wrap="square" rtlCol="0">
            <a:spAutoFit/>
          </a:bodyPr>
          <a:lstStyle/>
          <a:p>
            <a:r>
              <a:rPr lang="en-US" dirty="0"/>
              <a:t>                       </a:t>
            </a:r>
            <a:endParaRPr lang="en-US" dirty="0"/>
          </a:p>
          <a:p>
            <a:r>
              <a:rPr lang="en-US" dirty="0"/>
              <a:t>                             Team Members :</a:t>
            </a:r>
            <a:endParaRPr lang="en-US" dirty="0"/>
          </a:p>
        </p:txBody>
      </p:sp>
      <p:sp>
        <p:nvSpPr>
          <p:cNvPr id="10" name="TextBox 9"/>
          <p:cNvSpPr txBox="1"/>
          <p:nvPr/>
        </p:nvSpPr>
        <p:spPr>
          <a:xfrm>
            <a:off x="6185261" y="6025147"/>
            <a:ext cx="2874763" cy="513184"/>
          </a:xfrm>
          <a:prstGeom prst="rect">
            <a:avLst/>
          </a:prstGeom>
          <a:noFill/>
        </p:spPr>
        <p:txBody>
          <a:bodyPr wrap="square" rtlCol="0">
            <a:spAutoFit/>
          </a:bodyPr>
          <a:lstStyle/>
          <a:p>
            <a:endParaRPr lang="en-US" dirty="0"/>
          </a:p>
        </p:txBody>
      </p:sp>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838200" y="1047751"/>
          <a:ext cx="9658739" cy="4732602"/>
        </p:xfrm>
        <a:graphic>
          <a:graphicData uri="http://schemas.openxmlformats.org/drawingml/2006/table">
            <a:tbl>
              <a:tblPr firstRow="1" bandRow="1">
                <a:tableStyleId>{5C22544A-7EE6-4342-B048-85BDC9FD1C3A}</a:tableStyleId>
              </a:tblPr>
              <a:tblGrid>
                <a:gridCol w="4841105"/>
                <a:gridCol w="4817634"/>
              </a:tblGrid>
              <a:tr h="634219">
                <a:tc>
                  <a:txBody>
                    <a:bodyPr/>
                    <a:lstStyle/>
                    <a:p>
                      <a:r>
                        <a:rPr lang="en-US" sz="1800" b="1" dirty="0"/>
                        <a:t>                            NAME </a:t>
                      </a:r>
                      <a:endParaRPr lang="en-US" dirty="0"/>
                    </a:p>
                  </a:txBody>
                  <a:tcPr/>
                </a:tc>
                <a:tc>
                  <a:txBody>
                    <a:bodyPr/>
                    <a:lstStyle/>
                    <a:p>
                      <a:r>
                        <a:rPr lang="en-US" sz="1800" b="1" dirty="0"/>
                        <a:t>RESPONSIBILITIES AND CONTRIBUTION </a:t>
                      </a:r>
                      <a:endParaRPr lang="en-US" dirty="0"/>
                    </a:p>
                  </a:txBody>
                  <a:tcPr/>
                </a:tc>
              </a:tr>
              <a:tr h="1109885">
                <a:tc>
                  <a:txBody>
                    <a:bodyPr/>
                    <a:lstStyle/>
                    <a:p>
                      <a:r>
                        <a:rPr lang="en-US" sz="1800" b="0" dirty="0"/>
                        <a:t>DIVYA TEJASWI EJJUROTHU</a:t>
                      </a:r>
                      <a:endParaRPr lang="en-US" b="0" dirty="0"/>
                    </a:p>
                  </a:txBody>
                  <a:tcPr/>
                </a:tc>
                <a:tc>
                  <a:txBody>
                    <a:bodyPr/>
                    <a:lstStyle/>
                    <a:p>
                      <a:r>
                        <a:rPr lang="en-US" b="0" dirty="0"/>
                        <a:t>Data collection and processing,</a:t>
                      </a:r>
                      <a:r>
                        <a:rPr lang="en-US" dirty="0"/>
                        <a:t> Text analysis -Exploratory Data Analysis ,Text vectorization </a:t>
                      </a:r>
                      <a:endParaRPr lang="en-US" b="0" dirty="0"/>
                    </a:p>
                  </a:txBody>
                  <a:tcPr/>
                </a:tc>
              </a:tr>
              <a:tr h="1037049">
                <a:tc>
                  <a:txBody>
                    <a:bodyPr/>
                    <a:lstStyle/>
                    <a:p>
                      <a:r>
                        <a:rPr lang="en-US" dirty="0"/>
                        <a:t>SUSHMITHA VIRRI</a:t>
                      </a:r>
                      <a:endParaRPr lang="en-US" dirty="0"/>
                    </a:p>
                  </a:txBody>
                  <a:tcPr/>
                </a:tc>
                <a:tc>
                  <a:txBody>
                    <a:bodyPr/>
                    <a:lstStyle/>
                    <a:p>
                      <a:r>
                        <a:rPr lang="en-US" b="0" dirty="0"/>
                        <a:t>Project flow design and work sharing, Data collection and processing,</a:t>
                      </a:r>
                      <a:r>
                        <a:rPr lang="en-US" dirty="0"/>
                        <a:t> Text analysis -Exploratory Data Analysis</a:t>
                      </a:r>
                      <a:endParaRPr lang="en-US" dirty="0"/>
                    </a:p>
                  </a:txBody>
                  <a:tcPr/>
                </a:tc>
              </a:tr>
              <a:tr h="797730">
                <a:tc>
                  <a:txBody>
                    <a:bodyPr/>
                    <a:lstStyle/>
                    <a:p>
                      <a:r>
                        <a:rPr lang="en-US" dirty="0"/>
                        <a:t>VISHNU PONUGOTI</a:t>
                      </a:r>
                      <a:endParaRPr lang="en-US" dirty="0"/>
                    </a:p>
                  </a:txBody>
                  <a:tcPr/>
                </a:tc>
                <a:tc>
                  <a:txBody>
                    <a:bodyPr/>
                    <a:lstStyle/>
                    <a:p>
                      <a:r>
                        <a:rPr lang="en-US" b="0" dirty="0"/>
                        <a:t>Project flow design and work sharing, ML model implementation, predictions and model evaluation</a:t>
                      </a:r>
                      <a:endParaRPr lang="en-US" dirty="0"/>
                    </a:p>
                  </a:txBody>
                  <a:tcPr/>
                </a:tc>
              </a:tr>
              <a:tr h="1037049">
                <a:tc>
                  <a:txBody>
                    <a:bodyPr/>
                    <a:lstStyle/>
                    <a:p>
                      <a:r>
                        <a:rPr lang="en-US" dirty="0"/>
                        <a:t>PAVAN GANDAVARAPU</a:t>
                      </a:r>
                      <a:endParaRPr lang="en-US" dirty="0"/>
                    </a:p>
                  </a:txBody>
                  <a:tcPr/>
                </a:tc>
                <a:tc>
                  <a:txBody>
                    <a:bodyPr/>
                    <a:lstStyle/>
                    <a:p>
                      <a:r>
                        <a:rPr lang="en-US" b="0" dirty="0"/>
                        <a:t>ML model implementation,</a:t>
                      </a:r>
                      <a:r>
                        <a:rPr lang="en-US" dirty="0"/>
                        <a:t> Text vectorization ,</a:t>
                      </a:r>
                      <a:r>
                        <a:rPr lang="en-US" b="0" dirty="0"/>
                        <a:t> predictions and model evaluation</a:t>
                      </a:r>
                      <a:endParaRPr lang="en-US" dirty="0"/>
                    </a:p>
                  </a:txBody>
                  <a:tcPr/>
                </a:tc>
              </a:tr>
            </a:tbl>
          </a:graphicData>
        </a:graphic>
      </p:graphicFrame>
      <p:sp>
        <p:nvSpPr>
          <p:cNvPr id="3" name="TextBox 2"/>
          <p:cNvSpPr txBox="1"/>
          <p:nvPr/>
        </p:nvSpPr>
        <p:spPr>
          <a:xfrm flipH="1">
            <a:off x="671803" y="279089"/>
            <a:ext cx="9489233" cy="1014730"/>
          </a:xfrm>
          <a:prstGeom prst="rect">
            <a:avLst/>
          </a:prstGeom>
          <a:noFill/>
        </p:spPr>
        <p:txBody>
          <a:bodyPr wrap="square" rtlCol="0">
            <a:spAutoFit/>
          </a:bodyPr>
          <a:lstStyle/>
          <a:p>
            <a:r>
              <a:rPr lang="en-US" sz="1800" b="1" dirty="0"/>
              <a:t>  </a:t>
            </a:r>
            <a:r>
              <a:rPr lang="en-US" sz="2400" b="1" dirty="0"/>
              <a:t>Role</a:t>
            </a:r>
            <a:r>
              <a:rPr lang="en-IN" altLang="en-US" sz="2400" b="1" dirty="0"/>
              <a:t>s</a:t>
            </a:r>
            <a:r>
              <a:rPr lang="en-US" sz="2400" b="1" dirty="0"/>
              <a:t>/Responsibilities and Contribution to the Project:</a:t>
            </a:r>
            <a:endParaRPr lang="en-US" sz="2400" b="1" dirty="0"/>
          </a:p>
          <a:p>
            <a:endParaRPr lang="en-US" sz="1800" b="1" dirty="0"/>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1"/>
          <p:cNvSpPr>
            <a:spLocks noGrp="1" noRot="1" noChangeAspect="1" noMove="1" noResize="1" noEditPoints="1" noAdjustHandles="1" noChangeArrowheads="1" noChangeShapeType="1" noTextEdit="1"/>
          </p:cNvSpPr>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Diagram&#10;&#10;Description automatically generated with low confidence"/>
          <p:cNvPicPr>
            <a:picLocks noChangeAspect="1"/>
          </p:cNvPicPr>
          <p:nvPr/>
        </p:nvPicPr>
        <p:blipFill rotWithShape="1">
          <a:blip r:embed="rId1">
            <a:alphaModFix amt="35000"/>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sp>
        <p:nvSpPr>
          <p:cNvPr id="3" name="TextBox 2"/>
          <p:cNvSpPr txBox="1"/>
          <p:nvPr/>
        </p:nvSpPr>
        <p:spPr>
          <a:xfrm>
            <a:off x="838200" y="1805305"/>
            <a:ext cx="10515600" cy="4351338"/>
          </a:xfrm>
          <a:prstGeom prst="rect">
            <a:avLst/>
          </a:prstGeom>
        </p:spPr>
        <p:txBody>
          <a:bodyPr vert="horz" lIns="91440" tIns="45720" rIns="91440" bIns="45720" rtlCol="0">
            <a:normAutofit/>
          </a:bodyPr>
          <a:lstStyle/>
          <a:p>
            <a:pPr>
              <a:lnSpc>
                <a:spcPct val="90000"/>
              </a:lnSpc>
              <a:spcAft>
                <a:spcPts val="600"/>
              </a:spcAft>
            </a:pPr>
            <a:r>
              <a:rPr lang="en-US" sz="4000" dirty="0">
                <a:solidFill>
                  <a:srgbClr val="FFFFFF"/>
                </a:solidFill>
              </a:rPr>
              <a:t>Motivation:</a:t>
            </a:r>
            <a:endParaRPr lang="en-US" sz="4000" dirty="0">
              <a:solidFill>
                <a:srgbClr val="FFFFFF"/>
              </a:solidFill>
            </a:endParaRPr>
          </a:p>
          <a:p>
            <a:pPr marL="285750" indent="-228600">
              <a:lnSpc>
                <a:spcPct val="90000"/>
              </a:lnSpc>
              <a:spcAft>
                <a:spcPts val="600"/>
              </a:spcAft>
              <a:buFont typeface="Arial" panose="020B0604020202020204" pitchFamily="34" charset="0"/>
              <a:buChar char="•"/>
            </a:pPr>
            <a:r>
              <a:rPr lang="en-US" sz="2400" dirty="0">
                <a:solidFill>
                  <a:srgbClr val="FFFFFF"/>
                </a:solidFill>
              </a:rPr>
              <a:t>The abundance of news sources on the internet makes it difficult to identify reliable ones.</a:t>
            </a:r>
            <a:endParaRPr lang="en-US" sz="2400" dirty="0">
              <a:solidFill>
                <a:srgbClr val="FFFFFF"/>
              </a:solidFill>
            </a:endParaRPr>
          </a:p>
          <a:p>
            <a:pPr marL="285750" indent="-228600">
              <a:lnSpc>
                <a:spcPct val="90000"/>
              </a:lnSpc>
              <a:spcAft>
                <a:spcPts val="600"/>
              </a:spcAft>
              <a:buFont typeface="Arial" panose="020B0604020202020204" pitchFamily="34" charset="0"/>
              <a:buChar char="•"/>
            </a:pPr>
            <a:r>
              <a:rPr lang="en-US" sz="2400" dirty="0">
                <a:solidFill>
                  <a:srgbClr val="FFFFFF"/>
                </a:solidFill>
              </a:rPr>
              <a:t>Fake news is a significant problem, with potential harm including election interference and reputational damage.</a:t>
            </a:r>
            <a:endParaRPr lang="en-US" sz="2400" dirty="0">
              <a:solidFill>
                <a:srgbClr val="FFFFFF"/>
              </a:solidFill>
            </a:endParaRPr>
          </a:p>
          <a:p>
            <a:pPr marL="285750" indent="-228600">
              <a:lnSpc>
                <a:spcPct val="90000"/>
              </a:lnSpc>
              <a:spcAft>
                <a:spcPts val="600"/>
              </a:spcAft>
              <a:buFont typeface="Arial" panose="020B0604020202020204" pitchFamily="34" charset="0"/>
              <a:buChar char="•"/>
            </a:pPr>
            <a:r>
              <a:rPr lang="en-US" sz="2400" dirty="0">
                <a:solidFill>
                  <a:srgbClr val="FFFFFF"/>
                </a:solidFill>
              </a:rPr>
              <a:t>News literacy, including fact-checking skills, is crucial to combat fake news.</a:t>
            </a:r>
            <a:endParaRPr lang="en-US" sz="2400" dirty="0">
              <a:solidFill>
                <a:srgbClr val="FFFFFF"/>
              </a:solidFill>
            </a:endParaRPr>
          </a:p>
          <a:p>
            <a:pPr marL="285750" indent="-228600">
              <a:lnSpc>
                <a:spcPct val="90000"/>
              </a:lnSpc>
              <a:spcAft>
                <a:spcPts val="600"/>
              </a:spcAft>
              <a:buFont typeface="Arial" panose="020B0604020202020204" pitchFamily="34" charset="0"/>
              <a:buChar char="•"/>
            </a:pPr>
            <a:r>
              <a:rPr lang="en-US" sz="2400" dirty="0">
                <a:solidFill>
                  <a:srgbClr val="FFFFFF"/>
                </a:solidFill>
              </a:rPr>
              <a:t>The spread of fake news is often politically motivated or used to defame individuals or groups.</a:t>
            </a:r>
            <a:endParaRPr lang="en-US" sz="2400" dirty="0">
              <a:solidFill>
                <a:srgbClr val="FFFFFF"/>
              </a:solidFill>
            </a:endParaRPr>
          </a:p>
          <a:p>
            <a:pPr marL="285750" indent="-228600">
              <a:lnSpc>
                <a:spcPct val="90000"/>
              </a:lnSpc>
              <a:spcAft>
                <a:spcPts val="600"/>
              </a:spcAft>
              <a:buFont typeface="Arial" panose="020B0604020202020204" pitchFamily="34" charset="0"/>
              <a:buChar char="•"/>
            </a:pPr>
            <a:r>
              <a:rPr lang="en-US" sz="2400" dirty="0">
                <a:solidFill>
                  <a:srgbClr val="FFFFFF"/>
                </a:solidFill>
              </a:rPr>
              <a:t>Technology companies have a role to play in addressing the issue of fake news on their platforms.</a:t>
            </a:r>
            <a:endParaRPr lang="en-US" sz="2400" dirty="0">
              <a:solidFill>
                <a:srgbClr val="FFFFFF"/>
              </a:solidFill>
            </a:endParaRPr>
          </a:p>
          <a:p>
            <a:pPr indent="-228600">
              <a:lnSpc>
                <a:spcPct val="90000"/>
              </a:lnSpc>
              <a:spcAft>
                <a:spcPts val="600"/>
              </a:spcAft>
              <a:buFont typeface="Arial" panose="020B0604020202020204" pitchFamily="34" charset="0"/>
              <a:buChar char="•"/>
            </a:pPr>
            <a:endParaRPr lang="en-US" dirty="0">
              <a:solidFill>
                <a:srgbClr val="FFFFFF"/>
              </a:solidFill>
            </a:endParaRPr>
          </a:p>
        </p:txBody>
      </p:sp>
    </p:spTree>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ext&#10;&#10;Description automatically generated"/>
          <p:cNvPicPr>
            <a:picLocks noChangeAspect="1"/>
          </p:cNvPicPr>
          <p:nvPr/>
        </p:nvPicPr>
        <p:blipFill rotWithShape="1">
          <a:blip r:embed="rId1">
            <a:extLst>
              <a:ext uri="{28A0092B-C50C-407E-A947-70E740481C1C}">
                <a14:useLocalDpi xmlns:a14="http://schemas.microsoft.com/office/drawing/2010/main" val="0"/>
              </a:ext>
            </a:extLst>
          </a:blip>
          <a:srcRect l="276" r="15351" b="-1"/>
          <a:stretch>
            <a:fillRect/>
          </a:stretch>
        </p:blipFill>
        <p:spPr>
          <a:xfrm>
            <a:off x="3523488" y="10"/>
            <a:ext cx="8668512" cy="6857990"/>
          </a:xfrm>
          <a:prstGeom prst="rect">
            <a:avLst/>
          </a:prstGeom>
        </p:spPr>
      </p:pic>
      <p:sp>
        <p:nvSpPr>
          <p:cNvPr id="12" name="Rectangle 11"/>
          <p:cNvSpPr>
            <a:spLocks noGrp="1" noRot="1" noChangeAspect="1" noMove="1" noResize="1" noEditPoints="1" noAdjustHandles="1" noChangeArrowheads="1" noChangeShapeType="1" noTextEdit="1"/>
          </p:cNvSpPr>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p:cNvSpPr>
            <a:spLocks noGrp="1" noRot="1" noChangeAspect="1" noMove="1" noResize="1" noEditPoints="1" noAdjustHandles="1" noChangeArrowheads="1" noChangeShapeType="1" noTextEdit="1"/>
          </p:cNvSpPr>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p:cNvSpPr>
            <a:spLocks noGrp="1" noRot="1" noChangeAspect="1" noMove="1" noResize="1" noEditPoints="1" noAdjustHandles="1" noChangeArrowheads="1" noChangeShapeType="1" noTextEdit="1"/>
          </p:cNvSpPr>
          <p:nvPr/>
        </p:nvSpPr>
        <p:spPr>
          <a:xfrm>
            <a:off x="428244" y="2443480"/>
            <a:ext cx="3300984"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p:cNvSpPr txBox="1"/>
          <p:nvPr/>
        </p:nvSpPr>
        <p:spPr>
          <a:xfrm>
            <a:off x="371093" y="2718054"/>
            <a:ext cx="4312873" cy="3207258"/>
          </a:xfrm>
          <a:prstGeom prst="rect">
            <a:avLst/>
          </a:prstGeom>
        </p:spPr>
        <p:txBody>
          <a:bodyPr vert="horz" lIns="91440" tIns="45720" rIns="91440" bIns="45720" rtlCol="0" anchor="t">
            <a:normAutofit/>
          </a:bodyPr>
          <a:lstStyle/>
          <a:p>
            <a:pPr marL="285750" indent="-228600">
              <a:lnSpc>
                <a:spcPct val="90000"/>
              </a:lnSpc>
              <a:spcAft>
                <a:spcPts val="600"/>
              </a:spcAft>
              <a:buFont typeface="Arial" panose="020B0604020202020204" pitchFamily="34" charset="0"/>
              <a:buChar char="•"/>
            </a:pPr>
            <a:r>
              <a:rPr lang="en-US" sz="1600" dirty="0"/>
              <a:t>Collection of news articles (dataset).</a:t>
            </a:r>
            <a:endParaRPr lang="en-US" sz="1600" dirty="0"/>
          </a:p>
          <a:p>
            <a:pPr marL="285750" indent="-228600">
              <a:lnSpc>
                <a:spcPct val="90000"/>
              </a:lnSpc>
              <a:spcAft>
                <a:spcPts val="600"/>
              </a:spcAft>
              <a:buFont typeface="Arial" panose="020B0604020202020204" pitchFamily="34" charset="0"/>
              <a:buChar char="•"/>
            </a:pPr>
            <a:r>
              <a:rPr lang="en-US" sz="1600" dirty="0"/>
              <a:t>Cleaning or preprocessing the dataset using Regular Expressions.</a:t>
            </a:r>
            <a:endParaRPr lang="en-US" sz="1600" dirty="0"/>
          </a:p>
          <a:p>
            <a:pPr marL="285750" indent="-228600">
              <a:lnSpc>
                <a:spcPct val="90000"/>
              </a:lnSpc>
              <a:spcAft>
                <a:spcPts val="600"/>
              </a:spcAft>
              <a:buFont typeface="Arial" panose="020B0604020202020204" pitchFamily="34" charset="0"/>
              <a:buChar char="•"/>
            </a:pPr>
            <a:r>
              <a:rPr lang="en-US" sz="1600" dirty="0"/>
              <a:t>Analyze both categories by extracting vocabularies.</a:t>
            </a:r>
            <a:endParaRPr lang="en-US" sz="1600" dirty="0"/>
          </a:p>
          <a:p>
            <a:pPr marL="285750" indent="-228600">
              <a:lnSpc>
                <a:spcPct val="90000"/>
              </a:lnSpc>
              <a:spcAft>
                <a:spcPts val="600"/>
              </a:spcAft>
              <a:buFont typeface="Arial" panose="020B0604020202020204" pitchFamily="34" charset="0"/>
              <a:buChar char="•"/>
            </a:pPr>
            <a:r>
              <a:rPr lang="en-US" sz="1600" dirty="0"/>
              <a:t>Create Vectorizer and pass a dictionary to the Class Model.</a:t>
            </a:r>
            <a:endParaRPr lang="en-US" sz="1600" dirty="0"/>
          </a:p>
          <a:p>
            <a:pPr marL="285750" indent="-228600">
              <a:lnSpc>
                <a:spcPct val="90000"/>
              </a:lnSpc>
              <a:spcAft>
                <a:spcPts val="600"/>
              </a:spcAft>
              <a:buFont typeface="Arial" panose="020B0604020202020204" pitchFamily="34" charset="0"/>
              <a:buChar char="•"/>
            </a:pPr>
            <a:r>
              <a:rPr lang="en-IN" altLang="en-US" sz="1600" dirty="0"/>
              <a:t>i</a:t>
            </a:r>
            <a:r>
              <a:rPr lang="en-US" sz="1600" dirty="0"/>
              <a:t>mplement multiple machine learning algorithms to classify real and fake news.</a:t>
            </a:r>
            <a:endParaRPr lang="en-US" sz="1600" dirty="0"/>
          </a:p>
          <a:p>
            <a:pPr indent="-228600">
              <a:lnSpc>
                <a:spcPct val="90000"/>
              </a:lnSpc>
              <a:spcAft>
                <a:spcPts val="600"/>
              </a:spcAft>
              <a:buFont typeface="Arial" panose="020B0604020202020204" pitchFamily="34" charset="0"/>
              <a:buChar char="•"/>
            </a:pPr>
            <a:endParaRPr lang="en-US" sz="1600" dirty="0"/>
          </a:p>
        </p:txBody>
      </p:sp>
      <p:sp>
        <p:nvSpPr>
          <p:cNvPr id="7" name="TextBox 6"/>
          <p:cNvSpPr txBox="1"/>
          <p:nvPr/>
        </p:nvSpPr>
        <p:spPr>
          <a:xfrm flipH="1">
            <a:off x="428084" y="1652369"/>
            <a:ext cx="2607633" cy="800219"/>
          </a:xfrm>
          <a:prstGeom prst="rect">
            <a:avLst/>
          </a:prstGeom>
          <a:noFill/>
        </p:spPr>
        <p:txBody>
          <a:bodyPr wrap="square" rtlCol="0">
            <a:spAutoFit/>
          </a:bodyPr>
          <a:lstStyle/>
          <a:p>
            <a:r>
              <a:rPr lang="en-US" sz="2800" dirty="0"/>
              <a:t>Objective:</a:t>
            </a:r>
            <a:endParaRPr lang="en-US" sz="2800" dirty="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19"/>
          <p:cNvSpPr>
            <a:spLocks noGrp="1" noRot="1" noChangeAspect="1" noMove="1" noResize="1" noEditPoints="1" noAdjustHandles="1" noChangeArrowheads="1" noChangeShapeType="1" noTextEdit="1"/>
          </p:cNvSpPr>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group of people looking at a paper&#10;&#10;Description automatically generated with low confidence"/>
          <p:cNvPicPr>
            <a:picLocks noChangeAspect="1"/>
          </p:cNvPicPr>
          <p:nvPr/>
        </p:nvPicPr>
        <p:blipFill rotWithShape="1">
          <a:blip r:embed="rId1">
            <a:extLst>
              <a:ext uri="{28A0092B-C50C-407E-A947-70E740481C1C}">
                <a14:useLocalDpi xmlns:a14="http://schemas.microsoft.com/office/drawing/2010/main" val="0"/>
              </a:ext>
            </a:extLst>
          </a:blip>
          <a:srcRect l="317" r="5566" b="-1"/>
          <a:stretch>
            <a:fillRect/>
          </a:stretch>
        </p:blipFill>
        <p:spPr>
          <a:xfrm>
            <a:off x="2522356" y="10"/>
            <a:ext cx="9669642" cy="6857990"/>
          </a:xfrm>
          <a:prstGeom prst="rect">
            <a:avLst/>
          </a:prstGeom>
        </p:spPr>
      </p:pic>
      <p:sp>
        <p:nvSpPr>
          <p:cNvPr id="29" name="Rectangle 21"/>
          <p:cNvSpPr>
            <a:spLocks noGrp="1" noRot="1" noChangeAspect="1" noMove="1" noResize="1" noEditPoints="1" noAdjustHandles="1" noChangeArrowheads="1" noChangeShapeType="1" noTextEdit="1"/>
          </p:cNvSpPr>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p:cNvSpPr txBox="1"/>
          <p:nvPr/>
        </p:nvSpPr>
        <p:spPr>
          <a:xfrm>
            <a:off x="419100" y="723900"/>
            <a:ext cx="5876925" cy="5453063"/>
          </a:xfrm>
          <a:prstGeom prst="rect">
            <a:avLst/>
          </a:prstGeom>
        </p:spPr>
        <p:txBody>
          <a:bodyPr vert="horz" lIns="91440" tIns="45720" rIns="91440" bIns="45720" rtlCol="0">
            <a:normAutofit/>
          </a:bodyPr>
          <a:lstStyle/>
          <a:p>
            <a:pPr>
              <a:lnSpc>
                <a:spcPct val="90000"/>
              </a:lnSpc>
              <a:spcAft>
                <a:spcPts val="600"/>
              </a:spcAft>
            </a:pPr>
            <a:r>
              <a:rPr lang="en-US" sz="2800" b="1" dirty="0"/>
              <a:t>Related Work:</a:t>
            </a:r>
            <a:endParaRPr lang="en-US" sz="2800" b="1" dirty="0"/>
          </a:p>
          <a:p>
            <a:pPr>
              <a:lnSpc>
                <a:spcPct val="90000"/>
              </a:lnSpc>
              <a:spcAft>
                <a:spcPts val="600"/>
              </a:spcAft>
            </a:pPr>
            <a:endParaRPr lang="en-US" sz="2800" b="1" dirty="0"/>
          </a:p>
          <a:p>
            <a:pPr indent="-228600">
              <a:lnSpc>
                <a:spcPct val="90000"/>
              </a:lnSpc>
              <a:spcAft>
                <a:spcPts val="600"/>
              </a:spcAft>
              <a:buFont typeface="Arial" panose="020B0604020202020204" pitchFamily="34" charset="0"/>
              <a:buChar char="•"/>
            </a:pPr>
            <a:r>
              <a:rPr lang="en-US" dirty="0"/>
              <a:t>A comprehensive review of existing literature and research on the topic</a:t>
            </a:r>
            <a:endParaRPr lang="en-US" dirty="0"/>
          </a:p>
          <a:p>
            <a:pPr indent="-228600">
              <a:lnSpc>
                <a:spcPct val="90000"/>
              </a:lnSpc>
              <a:spcAft>
                <a:spcPts val="600"/>
              </a:spcAft>
              <a:buFont typeface="Arial" panose="020B0604020202020204" pitchFamily="34" charset="0"/>
              <a:buChar char="•"/>
            </a:pPr>
            <a:r>
              <a:rPr lang="en-US" dirty="0"/>
              <a:t>Analysis of relevant algorithms, models, and techniques used in previous studies</a:t>
            </a:r>
            <a:endParaRPr lang="en-US" dirty="0"/>
          </a:p>
          <a:p>
            <a:pPr indent="-228600">
              <a:lnSpc>
                <a:spcPct val="90000"/>
              </a:lnSpc>
              <a:spcAft>
                <a:spcPts val="600"/>
              </a:spcAft>
              <a:buFont typeface="Arial" panose="020B0604020202020204" pitchFamily="34" charset="0"/>
              <a:buChar char="•"/>
            </a:pPr>
            <a:r>
              <a:rPr lang="en-US" dirty="0"/>
              <a:t>Collection and analysis of relevant datasets to inform the current study</a:t>
            </a:r>
            <a:endParaRPr lang="en-US" dirty="0"/>
          </a:p>
          <a:p>
            <a:pPr indent="-228600">
              <a:lnSpc>
                <a:spcPct val="90000"/>
              </a:lnSpc>
              <a:spcAft>
                <a:spcPts val="600"/>
              </a:spcAft>
              <a:buFont typeface="Arial" panose="020B0604020202020204" pitchFamily="34" charset="0"/>
              <a:buChar char="•"/>
            </a:pPr>
            <a:r>
              <a:rPr lang="en-US" dirty="0"/>
              <a:t>Study and implementation of code or software used in previous studies to inform the current study</a:t>
            </a:r>
            <a:endParaRPr lang="en-US" dirty="0"/>
          </a:p>
          <a:p>
            <a:pPr indent="-228600">
              <a:lnSpc>
                <a:spcPct val="90000"/>
              </a:lnSpc>
              <a:spcAft>
                <a:spcPts val="600"/>
              </a:spcAft>
              <a:buFont typeface="Arial" panose="020B0604020202020204" pitchFamily="34" charset="0"/>
              <a:buChar char="•"/>
            </a:pPr>
            <a:r>
              <a:rPr lang="en-US" dirty="0"/>
              <a:t>Comparison and evaluation of previous studies' findings with the current study's results</a:t>
            </a:r>
            <a:endParaRPr lang="en-US" dirty="0"/>
          </a:p>
          <a:p>
            <a:pPr indent="-228600">
              <a:lnSpc>
                <a:spcPct val="90000"/>
              </a:lnSpc>
              <a:spcAft>
                <a:spcPts val="600"/>
              </a:spcAft>
              <a:buFont typeface="Arial" panose="020B0604020202020204" pitchFamily="34" charset="0"/>
              <a:buChar char="•"/>
            </a:pPr>
            <a:endParaRPr lang="en-US" sz="16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p:cNvSpPr>
            <a:spLocks noGrp="1" noRot="1" noChangeAspect="1" noMove="1" noResize="1" noEditPoints="1" noAdjustHandles="1" noChangeArrowheads="1" noChangeShapeType="1" noTextEdit="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643468" y="643466"/>
            <a:ext cx="5962784" cy="4656322"/>
          </a:xfrm>
          <a:prstGeom prst="rect">
            <a:avLst/>
          </a:prstGeom>
        </p:spPr>
        <p:txBody>
          <a:bodyPr vert="horz" lIns="91440" tIns="45720" rIns="91440" bIns="45720" rtlCol="0" anchor="b">
            <a:normAutofit fontScale="47500" lnSpcReduction="20000"/>
          </a:bodyPr>
          <a:lstStyle/>
          <a:p>
            <a:pPr>
              <a:lnSpc>
                <a:spcPct val="90000"/>
              </a:lnSpc>
              <a:spcBef>
                <a:spcPct val="0"/>
              </a:spcBef>
              <a:spcAft>
                <a:spcPts val="600"/>
              </a:spcAft>
            </a:pPr>
            <a:r>
              <a:rPr lang="en-US" sz="10000" b="1" dirty="0">
                <a:latin typeface="+mj-lt"/>
                <a:ea typeface="+mj-ea"/>
                <a:cs typeface="+mj-cs"/>
              </a:rPr>
              <a:t>Problem Statement</a:t>
            </a:r>
            <a:endParaRPr lang="en-US" sz="10000" b="1" dirty="0">
              <a:latin typeface="+mj-lt"/>
              <a:ea typeface="+mj-ea"/>
              <a:cs typeface="+mj-cs"/>
            </a:endParaRPr>
          </a:p>
          <a:p>
            <a:pPr marL="857250" indent="-857250">
              <a:buFont typeface="Arial" panose="020B0604020202020204" pitchFamily="34" charset="0"/>
              <a:buChar char="•"/>
            </a:pPr>
            <a:endParaRPr lang="en-US" sz="6000" dirty="0">
              <a:latin typeface="Times New Roman" panose="02020603050405020304" pitchFamily="18" charset="0"/>
              <a:cs typeface="Times New Roman" panose="02020603050405020304" pitchFamily="18" charset="0"/>
            </a:endParaRPr>
          </a:p>
          <a:p>
            <a:pPr marL="857250" indent="-857250">
              <a:buFont typeface="Arial" panose="020B0604020202020204" pitchFamily="34" charset="0"/>
              <a:buChar char="•"/>
            </a:pPr>
            <a:r>
              <a:rPr lang="en-US" sz="6000" dirty="0">
                <a:latin typeface="Times New Roman" panose="02020603050405020304" pitchFamily="18" charset="0"/>
                <a:cs typeface="Times New Roman" panose="02020603050405020304" pitchFamily="18" charset="0"/>
              </a:rPr>
              <a:t>Definition of Fake News: low-quality news with purposefully incorrect information.</a:t>
            </a:r>
            <a:endParaRPr lang="en-US" sz="6000" dirty="0">
              <a:latin typeface="Times New Roman" panose="02020603050405020304" pitchFamily="18" charset="0"/>
              <a:cs typeface="Times New Roman" panose="02020603050405020304" pitchFamily="18" charset="0"/>
            </a:endParaRPr>
          </a:p>
          <a:p>
            <a:pPr marL="857250" indent="-857250">
              <a:buFont typeface="Arial" panose="020B0604020202020204" pitchFamily="34" charset="0"/>
              <a:buChar char="•"/>
            </a:pPr>
            <a:r>
              <a:rPr lang="en-US" sz="6000" dirty="0">
                <a:latin typeface="Times New Roman" panose="02020603050405020304" pitchFamily="18" charset="0"/>
                <a:cs typeface="Times New Roman" panose="02020603050405020304" pitchFamily="18" charset="0"/>
              </a:rPr>
              <a:t>Domains such as Machine Learning and NLP provide solutions to these problems.</a:t>
            </a:r>
            <a:endParaRPr lang="en-US" sz="6000" dirty="0">
              <a:latin typeface="Times New Roman" panose="02020603050405020304" pitchFamily="18" charset="0"/>
              <a:cs typeface="Times New Roman" panose="02020603050405020304" pitchFamily="18" charset="0"/>
            </a:endParaRPr>
          </a:p>
          <a:p>
            <a:pPr marL="857250" indent="-857250">
              <a:buFont typeface="Arial" panose="020B0604020202020204" pitchFamily="34" charset="0"/>
              <a:buChar char="•"/>
            </a:pPr>
            <a:r>
              <a:rPr lang="en-US" sz="6000" dirty="0">
                <a:latin typeface="Times New Roman" panose="02020603050405020304" pitchFamily="18" charset="0"/>
                <a:cs typeface="Times New Roman" panose="02020603050405020304" pitchFamily="18" charset="0"/>
              </a:rPr>
              <a:t>Predicting Fake News as a Binary Classification type problem.</a:t>
            </a:r>
            <a:endParaRPr lang="en-US" sz="6000" dirty="0">
              <a:latin typeface="Times New Roman" panose="02020603050405020304" pitchFamily="18" charset="0"/>
              <a:cs typeface="Times New Roman" panose="02020603050405020304" pitchFamily="18" charset="0"/>
            </a:endParaRPr>
          </a:p>
          <a:p>
            <a:pPr>
              <a:lnSpc>
                <a:spcPct val="90000"/>
              </a:lnSpc>
              <a:spcBef>
                <a:spcPct val="0"/>
              </a:spcBef>
              <a:spcAft>
                <a:spcPts val="600"/>
              </a:spcAft>
            </a:pPr>
            <a:endParaRPr lang="en-US" sz="4400" dirty="0">
              <a:latin typeface="+mj-lt"/>
              <a:ea typeface="+mj-ea"/>
              <a:cs typeface="+mj-cs"/>
            </a:endParaRPr>
          </a:p>
        </p:txBody>
      </p:sp>
      <p:pic>
        <p:nvPicPr>
          <p:cNvPr id="5" name="Picture 4" descr="Icon&#10;&#10;Description automatically generated with medium confidence"/>
          <p:cNvPicPr>
            <a:picLocks noChangeAspect="1"/>
          </p:cNvPicPr>
          <p:nvPr/>
        </p:nvPicPr>
        <p:blipFill rotWithShape="1">
          <a:blip r:embed="rId1">
            <a:extLst>
              <a:ext uri="{28A0092B-C50C-407E-A947-70E740481C1C}">
                <a14:useLocalDpi xmlns:a14="http://schemas.microsoft.com/office/drawing/2010/main" val="0"/>
              </a:ext>
            </a:extLst>
          </a:blip>
          <a:srcRect l="6325" r="6728"/>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rotWithShape="1">
          <a:blip r:embed="rId1"/>
          <a:srcRect t="264" r="10085" b="8828"/>
          <a:stretch>
            <a:fillRect/>
          </a:stretch>
        </p:blipFill>
        <p:spPr>
          <a:xfrm>
            <a:off x="3523488" y="10"/>
            <a:ext cx="8668512" cy="6857990"/>
          </a:xfrm>
          <a:prstGeom prst="rect">
            <a:avLst/>
          </a:prstGeom>
        </p:spPr>
      </p:pic>
      <p:sp>
        <p:nvSpPr>
          <p:cNvPr id="12" name="Rectangle 11"/>
          <p:cNvSpPr>
            <a:spLocks noGrp="1" noRot="1" noChangeAspect="1" noMove="1" noResize="1" noEditPoints="1" noAdjustHandles="1" noChangeArrowheads="1" noChangeShapeType="1" noTextEdit="1"/>
          </p:cNvSpPr>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p:cNvSpPr>
            <a:spLocks noGrp="1" noRot="1" noChangeAspect="1" noMove="1" noResize="1" noEditPoints="1" noAdjustHandles="1" noChangeArrowheads="1" noChangeShapeType="1" noTextEdit="1"/>
          </p:cNvSpPr>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p:cNvSpPr>
            <a:spLocks noGrp="1" noRot="1" noChangeAspect="1" noMove="1" noResize="1" noEditPoints="1" noAdjustHandles="1" noChangeArrowheads="1" noChangeShapeType="1" noTextEdit="1"/>
          </p:cNvSpPr>
          <p:nvPr/>
        </p:nvSpPr>
        <p:spPr>
          <a:xfrm>
            <a:off x="428244" y="2443480"/>
            <a:ext cx="3300984"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p:cNvSpPr txBox="1"/>
          <p:nvPr/>
        </p:nvSpPr>
        <p:spPr>
          <a:xfrm>
            <a:off x="371093" y="2718054"/>
            <a:ext cx="4555469" cy="3207258"/>
          </a:xfrm>
          <a:prstGeom prst="rect">
            <a:avLst/>
          </a:prstGeom>
        </p:spPr>
        <p:txBody>
          <a:bodyPr vert="horz" lIns="91440" tIns="45720" rIns="91440" bIns="45720" rtlCol="0" anchor="t">
            <a:noAutofit/>
          </a:bodyPr>
          <a:lstStyle/>
          <a:p>
            <a:pPr>
              <a:lnSpc>
                <a:spcPct val="90000"/>
              </a:lnSpc>
              <a:spcAft>
                <a:spcPts val="600"/>
              </a:spcAft>
            </a:pPr>
            <a:r>
              <a:rPr lang="en-US" dirty="0"/>
              <a:t>The dataset contains true and fake news files separately. Using Panda’s library, we will create a master dataset by labelling true news as 1 and fake news as 0. In the data preprocessing step, stop words are removed, and special characters and URL tags are also removed from the data. For this task, we have used the regular expression Python library. A TF-IDF vectorizer is applied to convert the text into vectors in the data preparation step. TF-IDF vectorizer is implemented using the sci-kit-learn library. Data exploration is conducted to perform the text analysis. </a:t>
            </a:r>
            <a:endParaRPr lang="en-US" dirty="0"/>
          </a:p>
        </p:txBody>
      </p:sp>
      <p:sp>
        <p:nvSpPr>
          <p:cNvPr id="6" name="TextBox 5"/>
          <p:cNvSpPr txBox="1"/>
          <p:nvPr/>
        </p:nvSpPr>
        <p:spPr>
          <a:xfrm flipH="1">
            <a:off x="474719" y="2040485"/>
            <a:ext cx="2557729" cy="677108"/>
          </a:xfrm>
          <a:prstGeom prst="rect">
            <a:avLst/>
          </a:prstGeom>
          <a:noFill/>
        </p:spPr>
        <p:txBody>
          <a:bodyPr wrap="square" rtlCol="0">
            <a:spAutoFit/>
          </a:bodyPr>
          <a:lstStyle/>
          <a:p>
            <a:r>
              <a:rPr lang="en-US" sz="2000" b="1" dirty="0"/>
              <a:t>Proposed Solution :</a:t>
            </a:r>
            <a:endParaRPr lang="en-US" sz="2000" b="1" dirty="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flipH="1">
            <a:off x="741044" y="504825"/>
            <a:ext cx="2687956" cy="461665"/>
          </a:xfrm>
          <a:prstGeom prst="rect">
            <a:avLst/>
          </a:prstGeom>
          <a:noFill/>
        </p:spPr>
        <p:txBody>
          <a:bodyPr wrap="square" rtlCol="0">
            <a:spAutoFit/>
          </a:bodyPr>
          <a:lstStyle/>
          <a:p>
            <a:r>
              <a:rPr lang="en-US" sz="2400" b="1" u="sng" dirty="0"/>
              <a:t>Workflow :</a:t>
            </a:r>
            <a:endParaRPr lang="en-US" sz="2400" b="1" u="sng" dirty="0"/>
          </a:p>
        </p:txBody>
      </p:sp>
      <p:pic>
        <p:nvPicPr>
          <p:cNvPr id="4" name="Picture 3"/>
          <p:cNvPicPr>
            <a:picLocks noChangeAspect="1"/>
          </p:cNvPicPr>
          <p:nvPr/>
        </p:nvPicPr>
        <p:blipFill>
          <a:blip r:embed="rId1"/>
          <a:stretch>
            <a:fillRect/>
          </a:stretch>
        </p:blipFill>
        <p:spPr>
          <a:xfrm>
            <a:off x="2400300" y="619125"/>
            <a:ext cx="6667499" cy="56102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1008184" y="801108"/>
            <a:ext cx="10175630" cy="2380242"/>
          </a:xfrm>
          <a:prstGeom prst="rect">
            <a:avLst/>
          </a:prstGeom>
        </p:spPr>
        <p:txBody>
          <a:bodyPr vert="horz" lIns="91440" tIns="45720" rIns="91440" bIns="45720" rtlCol="0" anchor="ctr">
            <a:normAutofit/>
          </a:bodyPr>
          <a:lstStyle/>
          <a:p>
            <a:pPr algn="just">
              <a:lnSpc>
                <a:spcPct val="90000"/>
              </a:lnSpc>
              <a:spcAft>
                <a:spcPts val="600"/>
              </a:spcAft>
            </a:pPr>
            <a:r>
              <a:rPr lang="en-US" b="1" u="sng" dirty="0"/>
              <a:t>Multinomial Naive Bayes:</a:t>
            </a:r>
            <a:endParaRPr lang="en-US" b="1" u="sng" dirty="0"/>
          </a:p>
          <a:p>
            <a:pPr algn="just">
              <a:lnSpc>
                <a:spcPct val="90000"/>
              </a:lnSpc>
              <a:spcAft>
                <a:spcPts val="600"/>
              </a:spcAft>
            </a:pPr>
            <a:r>
              <a:rPr lang="en-US" dirty="0"/>
              <a:t>The multinomial Naive Bayes classifier is a variant of Naive Bayes classifier. All the variants of the Naive Bayes classifiers work based on the Bayes principle. This algorithm is vividly used in the NLP tasks like filtering spam or ham emails and predicting fake or real news. It calculates each tag’s likelihood for a given sample and outputs the tag with the greatest chance.</a:t>
            </a:r>
            <a:endParaRPr lang="en-US" dirty="0"/>
          </a:p>
          <a:p>
            <a:pPr indent="-228600" algn="ctr">
              <a:lnSpc>
                <a:spcPct val="90000"/>
              </a:lnSpc>
              <a:spcAft>
                <a:spcPts val="600"/>
              </a:spcAft>
              <a:buFont typeface="Arial" panose="020B0604020202020204" pitchFamily="34" charset="0"/>
              <a:buChar char="•"/>
            </a:pPr>
            <a:endParaRPr lang="en-US" sz="1000" b="1" dirty="0"/>
          </a:p>
        </p:txBody>
      </p:sp>
      <p:pic>
        <p:nvPicPr>
          <p:cNvPr id="4" name="Picture 3" descr="Diagram&#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95706" y="3924300"/>
            <a:ext cx="10194491" cy="238024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85191" y="94530"/>
            <a:ext cx="10515600" cy="6222216"/>
          </a:xfrm>
          <a:prstGeom prst="rect">
            <a:avLst/>
          </a:prstGeom>
          <a:noFill/>
        </p:spPr>
        <p:txBody>
          <a:bodyPr wrap="square">
            <a:spAutoFit/>
          </a:bodyPr>
          <a:lstStyle/>
          <a:p>
            <a:pPr>
              <a:lnSpc>
                <a:spcPct val="90000"/>
              </a:lnSpc>
              <a:spcBef>
                <a:spcPts val="1000"/>
              </a:spcBef>
              <a:buClr>
                <a:schemeClr val="accent1"/>
              </a:buClr>
              <a:buSzPct val="80000"/>
            </a:pPr>
            <a:endParaRPr lang="en-US" sz="1800" b="1" dirty="0"/>
          </a:p>
          <a:p>
            <a:pPr>
              <a:lnSpc>
                <a:spcPct val="90000"/>
              </a:lnSpc>
              <a:spcBef>
                <a:spcPts val="1000"/>
              </a:spcBef>
              <a:buClr>
                <a:schemeClr val="accent1"/>
              </a:buClr>
              <a:buSzPct val="80000"/>
            </a:pPr>
            <a:r>
              <a:rPr lang="en-US" sz="2000" b="1" u="sng" dirty="0"/>
              <a:t>Libraries used in the application:</a:t>
            </a:r>
            <a:endParaRPr lang="en-US" sz="2000" b="1" u="sng" dirty="0"/>
          </a:p>
          <a:p>
            <a:pPr>
              <a:lnSpc>
                <a:spcPct val="90000"/>
              </a:lnSpc>
              <a:spcBef>
                <a:spcPts val="1000"/>
              </a:spcBef>
              <a:buClr>
                <a:schemeClr val="accent1"/>
              </a:buClr>
              <a:buSzPct val="80000"/>
            </a:pPr>
            <a:endParaRPr lang="en-US" sz="2000" b="1" dirty="0"/>
          </a:p>
          <a:p>
            <a:pPr>
              <a:lnSpc>
                <a:spcPct val="90000"/>
              </a:lnSpc>
              <a:spcBef>
                <a:spcPts val="1000"/>
              </a:spcBef>
              <a:buClr>
                <a:schemeClr val="accent1"/>
              </a:buClr>
              <a:buSzPct val="80000"/>
            </a:pPr>
            <a:r>
              <a:rPr lang="en-US" sz="2000" b="1" i="0" u="sng" dirty="0">
                <a:effectLst/>
                <a:latin typeface="Söhne"/>
              </a:rPr>
              <a:t>NLTK: </a:t>
            </a:r>
            <a:r>
              <a:rPr lang="en-US" sz="2000" b="0" i="0" dirty="0">
                <a:effectLst/>
                <a:latin typeface="Söhne"/>
              </a:rPr>
              <a:t>NLTK is a Python library for working with human language data, providing various interfaces for natural language processing tasks</a:t>
            </a:r>
            <a:r>
              <a:rPr lang="en-US" sz="2000" b="0" i="0" dirty="0">
                <a:solidFill>
                  <a:srgbClr val="374151"/>
                </a:solidFill>
                <a:effectLst/>
                <a:latin typeface="Söhne"/>
              </a:rPr>
              <a:t>.</a:t>
            </a:r>
            <a:endParaRPr lang="en-US" sz="2000" b="1" dirty="0"/>
          </a:p>
          <a:p>
            <a:pPr>
              <a:lnSpc>
                <a:spcPct val="90000"/>
              </a:lnSpc>
              <a:spcBef>
                <a:spcPts val="1000"/>
              </a:spcBef>
              <a:buClr>
                <a:schemeClr val="accent1"/>
              </a:buClr>
              <a:buSzPct val="80000"/>
            </a:pPr>
            <a:r>
              <a:rPr lang="en-US" sz="1800" b="1" u="sng" dirty="0" err="1"/>
              <a:t>Numpy</a:t>
            </a:r>
            <a:r>
              <a:rPr lang="en-US" sz="1800" dirty="0"/>
              <a:t>: NumPy is a Python library for numerical computation that provides powerful data structures for working with multi-dimensional arrays and matrices.</a:t>
            </a:r>
            <a:endParaRPr lang="en-US" sz="1800" dirty="0"/>
          </a:p>
          <a:p>
            <a:pPr>
              <a:lnSpc>
                <a:spcPct val="90000"/>
              </a:lnSpc>
              <a:spcBef>
                <a:spcPts val="1000"/>
              </a:spcBef>
              <a:buClr>
                <a:schemeClr val="accent1"/>
              </a:buClr>
              <a:buSzPct val="80000"/>
            </a:pPr>
            <a:r>
              <a:rPr lang="en-US" sz="1800" b="1" u="sng" dirty="0"/>
              <a:t>pandas</a:t>
            </a:r>
            <a:r>
              <a:rPr lang="en-US" sz="1800" dirty="0"/>
              <a:t>: Pandas is a Python library for data manipulation and analysis. It provides data structures and functions for working with tabular data, including data import/export, data cleaning, merging, reshaping, and aggregation</a:t>
            </a:r>
            <a:endParaRPr lang="en-US" sz="1800" dirty="0"/>
          </a:p>
          <a:p>
            <a:pPr>
              <a:lnSpc>
                <a:spcPct val="90000"/>
              </a:lnSpc>
              <a:spcBef>
                <a:spcPts val="1000"/>
              </a:spcBef>
              <a:buClr>
                <a:schemeClr val="accent1"/>
              </a:buClr>
              <a:buSzPct val="80000"/>
            </a:pPr>
            <a:r>
              <a:rPr lang="en-US" sz="1800" b="1" u="sng" dirty="0"/>
              <a:t>matplotlib</a:t>
            </a:r>
            <a:r>
              <a:rPr lang="en-US" sz="1800" b="1" dirty="0"/>
              <a:t>: </a:t>
            </a:r>
            <a:r>
              <a:rPr lang="en-US" sz="1800" dirty="0"/>
              <a:t>Matplotlib is a Python library for creating static, animated, and interactive visualizations in Python. It provides a wide range of tools for creating charts, plots, histograms, and other types of visualizations.</a:t>
            </a:r>
            <a:endParaRPr lang="en-US" sz="1800" dirty="0"/>
          </a:p>
          <a:p>
            <a:pPr>
              <a:lnSpc>
                <a:spcPct val="90000"/>
              </a:lnSpc>
              <a:spcBef>
                <a:spcPts val="1000"/>
              </a:spcBef>
              <a:buClr>
                <a:schemeClr val="accent1"/>
              </a:buClr>
              <a:buSzPct val="80000"/>
            </a:pPr>
            <a:r>
              <a:rPr lang="en-US" sz="1800" b="1" u="sng" dirty="0"/>
              <a:t>seaborn</a:t>
            </a:r>
            <a:r>
              <a:rPr lang="en-US" sz="1800" u="sng" dirty="0"/>
              <a:t>: </a:t>
            </a:r>
            <a:r>
              <a:rPr lang="en-US" sz="1800" dirty="0"/>
              <a:t>Seaborn is a Python data visualization library built on top of matplotlib. It provides a high-level interface for creating informative and attractive statistical graphics</a:t>
            </a:r>
            <a:endParaRPr lang="en-US" sz="1800" dirty="0"/>
          </a:p>
          <a:p>
            <a:pPr>
              <a:lnSpc>
                <a:spcPct val="90000"/>
              </a:lnSpc>
              <a:spcBef>
                <a:spcPts val="1000"/>
              </a:spcBef>
              <a:buClr>
                <a:schemeClr val="accent1"/>
              </a:buClr>
              <a:buSzPct val="80000"/>
            </a:pPr>
            <a:r>
              <a:rPr lang="en-US" u="sng" dirty="0">
                <a:latin typeface="Söhne"/>
              </a:rPr>
              <a:t>re</a:t>
            </a:r>
            <a:r>
              <a:rPr lang="en-US" dirty="0">
                <a:latin typeface="Söhne"/>
              </a:rPr>
              <a:t>: </a:t>
            </a:r>
            <a:r>
              <a:rPr lang="en-US" i="0" dirty="0">
                <a:effectLst/>
                <a:latin typeface="Söhne"/>
              </a:rPr>
              <a:t>"re" is a built-in Python module for pattern matching and text manipulation using regular expressions.</a:t>
            </a:r>
            <a:endParaRPr lang="en-US" i="0" dirty="0">
              <a:effectLst/>
              <a:latin typeface="Söhne"/>
            </a:endParaRPr>
          </a:p>
          <a:p>
            <a:pPr>
              <a:lnSpc>
                <a:spcPct val="90000"/>
              </a:lnSpc>
              <a:spcBef>
                <a:spcPts val="1000"/>
              </a:spcBef>
              <a:buClr>
                <a:schemeClr val="accent1"/>
              </a:buClr>
              <a:buSzPct val="80000"/>
            </a:pPr>
            <a:r>
              <a:rPr lang="en-US" sz="1800" b="1" u="sng" dirty="0" err="1"/>
              <a:t>Sklearn</a:t>
            </a:r>
            <a:r>
              <a:rPr lang="en-US" sz="1800" dirty="0"/>
              <a:t>: Scikit-learn, also known as </a:t>
            </a:r>
            <a:r>
              <a:rPr lang="en-US" sz="1800" dirty="0" err="1"/>
              <a:t>sklearn</a:t>
            </a:r>
            <a:r>
              <a:rPr lang="en-US" sz="1800" dirty="0"/>
              <a:t>, is a popular Python library for machine learning. It provides a wide range of tools for data preprocessing, feature engineering, model selection, and model evaluation.</a:t>
            </a:r>
            <a:endParaRPr lang="en-US" sz="1800" dirty="0"/>
          </a:p>
          <a:p>
            <a:pPr>
              <a:lnSpc>
                <a:spcPct val="90000"/>
              </a:lnSpc>
              <a:spcBef>
                <a:spcPts val="1000"/>
              </a:spcBef>
              <a:buClr>
                <a:schemeClr val="accent1"/>
              </a:buClr>
              <a:buSzPct val="80000"/>
            </a:pPr>
            <a:r>
              <a:rPr lang="en-US" b="1" i="0" u="sng" dirty="0" err="1">
                <a:effectLst/>
                <a:latin typeface="Söhne"/>
              </a:rPr>
              <a:t>Pickle</a:t>
            </a:r>
            <a:r>
              <a:rPr lang="en-US" b="0" i="0" dirty="0" err="1">
                <a:effectLst/>
                <a:latin typeface="Söhne"/>
              </a:rPr>
              <a:t>:"Pickle</a:t>
            </a:r>
            <a:r>
              <a:rPr lang="en-US" b="0" i="0" dirty="0">
                <a:effectLst/>
                <a:latin typeface="Söhne"/>
              </a:rPr>
              <a:t>" is a Python module for converting Python objects into a byte stream for serialization and de-serialization.</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00100" y="622432"/>
            <a:ext cx="6097554" cy="1477328"/>
          </a:xfrm>
          <a:prstGeom prst="rect">
            <a:avLst/>
          </a:prstGeom>
          <a:noFill/>
        </p:spPr>
        <p:txBody>
          <a:bodyPr wrap="square">
            <a:spAutoFit/>
          </a:bodyPr>
          <a:lstStyle/>
          <a:p>
            <a:r>
              <a:rPr lang="en-US" b="1" u="sng" dirty="0"/>
              <a:t>Results/Simulations :</a:t>
            </a:r>
            <a:endParaRPr lang="en-US" b="1" u="sng" dirty="0"/>
          </a:p>
          <a:p>
            <a:r>
              <a:rPr lang="en-US" dirty="0"/>
              <a:t>we can conclude that Multinomial Naive Bayes outperformed the decision tree. Multinomial Naive Bayes scored 97 per cent accuracy on the test data whereas the decision achieved 84 per cent accuracy</a:t>
            </a:r>
            <a:r>
              <a:rPr lang="en-US" b="1" dirty="0"/>
              <a:t> </a:t>
            </a:r>
            <a:endParaRPr lang="en-US" b="1" dirty="0"/>
          </a:p>
        </p:txBody>
      </p:sp>
      <p:pic>
        <p:nvPicPr>
          <p:cNvPr id="7" name="Picture 6"/>
          <p:cNvPicPr>
            <a:picLocks noChangeAspect="1"/>
          </p:cNvPicPr>
          <p:nvPr/>
        </p:nvPicPr>
        <p:blipFill>
          <a:blip r:embed="rId1"/>
          <a:stretch>
            <a:fillRect/>
          </a:stretch>
        </p:blipFill>
        <p:spPr>
          <a:xfrm>
            <a:off x="104775" y="2099760"/>
            <a:ext cx="7751597" cy="4443915"/>
          </a:xfrm>
          <a:prstGeom prst="rect">
            <a:avLst/>
          </a:prstGeom>
        </p:spPr>
      </p:pic>
      <p:pic>
        <p:nvPicPr>
          <p:cNvPr id="9" name="Picture 8"/>
          <p:cNvPicPr>
            <a:picLocks noChangeAspect="1"/>
          </p:cNvPicPr>
          <p:nvPr/>
        </p:nvPicPr>
        <p:blipFill>
          <a:blip r:embed="rId2"/>
          <a:stretch>
            <a:fillRect/>
          </a:stretch>
        </p:blipFill>
        <p:spPr>
          <a:xfrm>
            <a:off x="7715144" y="411382"/>
            <a:ext cx="2438611" cy="3017618"/>
          </a:xfrm>
          <a:prstGeom prst="rect">
            <a:avLst/>
          </a:prstGeom>
        </p:spPr>
      </p:pic>
      <p:pic>
        <p:nvPicPr>
          <p:cNvPr id="11" name="Picture 10"/>
          <p:cNvPicPr>
            <a:picLocks noChangeAspect="1"/>
          </p:cNvPicPr>
          <p:nvPr/>
        </p:nvPicPr>
        <p:blipFill>
          <a:blip r:embed="rId3"/>
          <a:stretch>
            <a:fillRect/>
          </a:stretch>
        </p:blipFill>
        <p:spPr>
          <a:xfrm>
            <a:off x="8096100" y="3573644"/>
            <a:ext cx="3467400" cy="313971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27"/>
          <p:cNvSpPr>
            <a:spLocks noGrp="1" noRot="1" noChangeAspect="1" noMove="1" noResize="1" noEditPoints="1" noAdjustHandles="1" noChangeArrowheads="1" noChangeShapeType="1" noTextEdit="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29"/>
          <p:cNvSpPr>
            <a:spLocks noGrp="1" noRot="1" noChangeAspect="1" noMove="1" noResize="1" noEditPoints="1" noAdjustHandles="1" noChangeArrowheads="1" noChangeShapeType="1" noTextEdit="1"/>
          </p:cNvSpPr>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3" name="TextBox 2"/>
          <p:cNvSpPr txBox="1"/>
          <p:nvPr/>
        </p:nvSpPr>
        <p:spPr>
          <a:xfrm>
            <a:off x="381000" y="1200150"/>
            <a:ext cx="5581785" cy="4662487"/>
          </a:xfrm>
          <a:prstGeom prst="rect">
            <a:avLst/>
          </a:prstGeom>
        </p:spPr>
        <p:txBody>
          <a:bodyPr vert="horz" lIns="91440" tIns="45720" rIns="91440" bIns="45720" rtlCol="0">
            <a:normAutofit fontScale="85000" lnSpcReduction="20000"/>
          </a:bodyPr>
          <a:lstStyle/>
          <a:p>
            <a:pPr>
              <a:lnSpc>
                <a:spcPct val="90000"/>
              </a:lnSpc>
            </a:pPr>
            <a:r>
              <a:rPr lang="en-US" sz="3300" dirty="0"/>
              <a:t>References:</a:t>
            </a:r>
            <a:endParaRPr lang="en-US" sz="3300" dirty="0"/>
          </a:p>
          <a:p>
            <a:pPr marR="91440">
              <a:lnSpc>
                <a:spcPct val="90000"/>
              </a:lnSpc>
              <a:spcBef>
                <a:spcPts val="190"/>
              </a:spcBef>
              <a:spcAft>
                <a:spcPts val="0"/>
              </a:spcAft>
            </a:pPr>
            <a:r>
              <a:rPr lang="en-US" dirty="0">
                <a:effectLst/>
              </a:rPr>
              <a:t>[1]. S. M. N, K. M. V, S. Verma and S. Rajagopal, "NLP Based Fake News Detection Using</a:t>
            </a:r>
            <a:r>
              <a:rPr lang="en-US" spc="5" dirty="0">
                <a:effectLst/>
              </a:rPr>
              <a:t> </a:t>
            </a:r>
            <a:r>
              <a:rPr lang="en-US" dirty="0">
                <a:effectLst/>
              </a:rPr>
              <a:t>Hybrid Machine Learning Techniques," 2022 3rd International Conference on Electronics and</a:t>
            </a:r>
            <a:r>
              <a:rPr lang="en-US" spc="5" dirty="0">
                <a:effectLst/>
              </a:rPr>
              <a:t> </a:t>
            </a:r>
            <a:r>
              <a:rPr lang="en-US" dirty="0">
                <a:effectLst/>
              </a:rPr>
              <a:t>Sustainable</a:t>
            </a:r>
            <a:r>
              <a:rPr lang="en-US" spc="5" dirty="0">
                <a:effectLst/>
              </a:rPr>
              <a:t> </a:t>
            </a:r>
            <a:r>
              <a:rPr lang="en-US" dirty="0">
                <a:effectLst/>
              </a:rPr>
              <a:t>Communication</a:t>
            </a:r>
            <a:r>
              <a:rPr lang="en-US" spc="5" dirty="0">
                <a:effectLst/>
              </a:rPr>
              <a:t> </a:t>
            </a:r>
            <a:r>
              <a:rPr lang="en-US" dirty="0">
                <a:effectLst/>
              </a:rPr>
              <a:t>Systems</a:t>
            </a:r>
            <a:r>
              <a:rPr lang="en-US" spc="5" dirty="0">
                <a:effectLst/>
              </a:rPr>
              <a:t> </a:t>
            </a:r>
            <a:r>
              <a:rPr lang="en-US" dirty="0">
                <a:effectLst/>
              </a:rPr>
              <a:t>(ICESC), Coimbatore, India, 2022, pp. 818-822, </a:t>
            </a:r>
            <a:r>
              <a:rPr lang="en-US" dirty="0" err="1">
                <a:effectLst/>
              </a:rPr>
              <a:t>doi</a:t>
            </a:r>
            <a:r>
              <a:rPr lang="en-US" dirty="0">
                <a:effectLst/>
              </a:rPr>
              <a:t>:</a:t>
            </a:r>
            <a:r>
              <a:rPr lang="en-US" spc="5" dirty="0">
                <a:effectLst/>
              </a:rPr>
              <a:t> </a:t>
            </a:r>
            <a:r>
              <a:rPr lang="en-US" dirty="0">
                <a:effectLst/>
              </a:rPr>
              <a:t>10.1109/ICESC54411.2022.9885679.</a:t>
            </a:r>
            <a:endParaRPr lang="en-US" dirty="0">
              <a:effectLst/>
            </a:endParaRPr>
          </a:p>
          <a:p>
            <a:pPr marR="0">
              <a:lnSpc>
                <a:spcPct val="90000"/>
              </a:lnSpc>
              <a:spcBef>
                <a:spcPts val="15"/>
              </a:spcBef>
              <a:spcAft>
                <a:spcPts val="0"/>
              </a:spcAft>
            </a:pPr>
            <a:r>
              <a:rPr lang="en-US" dirty="0">
                <a:effectLst/>
              </a:rPr>
              <a:t> </a:t>
            </a:r>
            <a:endParaRPr lang="en-US" dirty="0">
              <a:effectLst/>
            </a:endParaRPr>
          </a:p>
          <a:p>
            <a:pPr marR="89535">
              <a:lnSpc>
                <a:spcPct val="90000"/>
              </a:lnSpc>
              <a:spcBef>
                <a:spcPts val="0"/>
              </a:spcBef>
              <a:spcAft>
                <a:spcPts val="0"/>
              </a:spcAft>
            </a:pPr>
            <a:r>
              <a:rPr lang="en-US" dirty="0">
                <a:effectLst/>
              </a:rPr>
              <a:t>[2].</a:t>
            </a:r>
            <a:r>
              <a:rPr lang="en-US" spc="5" dirty="0">
                <a:effectLst/>
              </a:rPr>
              <a:t> </a:t>
            </a:r>
            <a:r>
              <a:rPr lang="en-US" dirty="0">
                <a:effectLst/>
              </a:rPr>
              <a:t>B.</a:t>
            </a:r>
            <a:r>
              <a:rPr lang="en-US" spc="5" dirty="0">
                <a:effectLst/>
              </a:rPr>
              <a:t> </a:t>
            </a:r>
            <a:r>
              <a:rPr lang="en-US" dirty="0">
                <a:effectLst/>
              </a:rPr>
              <a:t>Ganesh</a:t>
            </a:r>
            <a:r>
              <a:rPr lang="en-US" spc="5" dirty="0">
                <a:effectLst/>
              </a:rPr>
              <a:t> </a:t>
            </a:r>
            <a:r>
              <a:rPr lang="en-US" dirty="0">
                <a:effectLst/>
              </a:rPr>
              <a:t>and</a:t>
            </a:r>
            <a:r>
              <a:rPr lang="en-US" spc="5" dirty="0">
                <a:effectLst/>
              </a:rPr>
              <a:t> </a:t>
            </a:r>
            <a:r>
              <a:rPr lang="en-US" dirty="0">
                <a:effectLst/>
              </a:rPr>
              <a:t>D.</a:t>
            </a:r>
            <a:r>
              <a:rPr lang="en-US" spc="5" dirty="0">
                <a:effectLst/>
              </a:rPr>
              <a:t> </a:t>
            </a:r>
            <a:r>
              <a:rPr lang="en-US" dirty="0">
                <a:effectLst/>
              </a:rPr>
              <a:t>K.</a:t>
            </a:r>
            <a:r>
              <a:rPr lang="en-US" spc="5" dirty="0">
                <a:effectLst/>
              </a:rPr>
              <a:t> </a:t>
            </a:r>
            <a:r>
              <a:rPr lang="en-US" dirty="0" err="1">
                <a:effectLst/>
              </a:rPr>
              <a:t>Anitha</a:t>
            </a:r>
            <a:r>
              <a:rPr lang="en-US" dirty="0">
                <a:effectLst/>
              </a:rPr>
              <a:t>, "Implementation of Personality Detection and Accuracy</a:t>
            </a:r>
            <a:r>
              <a:rPr lang="en-US" spc="5" dirty="0">
                <a:effectLst/>
              </a:rPr>
              <a:t> </a:t>
            </a:r>
            <a:r>
              <a:rPr lang="en-US" dirty="0">
                <a:effectLst/>
              </a:rPr>
              <a:t>Prediction for identification of fake and true news using Decision Tree and Random Forest</a:t>
            </a:r>
            <a:r>
              <a:rPr lang="en-US" spc="5" dirty="0">
                <a:effectLst/>
              </a:rPr>
              <a:t> </a:t>
            </a:r>
            <a:r>
              <a:rPr lang="en-US" dirty="0">
                <a:effectLst/>
              </a:rPr>
              <a:t>Algorithms," 2022 International Conference on Business Analytics for Technology and Security</a:t>
            </a:r>
            <a:r>
              <a:rPr lang="en-US" spc="5" dirty="0">
                <a:effectLst/>
              </a:rPr>
              <a:t> </a:t>
            </a:r>
            <a:r>
              <a:rPr lang="en-US" dirty="0">
                <a:effectLst/>
              </a:rPr>
              <a:t>(ICBATS),</a:t>
            </a:r>
            <a:r>
              <a:rPr lang="en-US" spc="5" dirty="0">
                <a:effectLst/>
              </a:rPr>
              <a:t> </a:t>
            </a:r>
            <a:r>
              <a:rPr lang="en-US" dirty="0">
                <a:effectLst/>
              </a:rPr>
              <a:t>Dubai,</a:t>
            </a:r>
            <a:r>
              <a:rPr lang="en-US" spc="5" dirty="0">
                <a:effectLst/>
              </a:rPr>
              <a:t> </a:t>
            </a:r>
            <a:r>
              <a:rPr lang="en-US" dirty="0">
                <a:effectLst/>
              </a:rPr>
              <a:t>United</a:t>
            </a:r>
            <a:r>
              <a:rPr lang="en-US" spc="5" dirty="0">
                <a:effectLst/>
              </a:rPr>
              <a:t> </a:t>
            </a:r>
            <a:r>
              <a:rPr lang="en-US" dirty="0">
                <a:effectLst/>
              </a:rPr>
              <a:t>Arab</a:t>
            </a:r>
            <a:r>
              <a:rPr lang="en-US" spc="5" dirty="0">
                <a:effectLst/>
              </a:rPr>
              <a:t> </a:t>
            </a:r>
            <a:r>
              <a:rPr lang="en-US" dirty="0">
                <a:effectLst/>
              </a:rPr>
              <a:t>Emirates,</a:t>
            </a:r>
            <a:r>
              <a:rPr lang="en-US" spc="5" dirty="0">
                <a:effectLst/>
              </a:rPr>
              <a:t> </a:t>
            </a:r>
            <a:r>
              <a:rPr lang="en-US" dirty="0">
                <a:effectLst/>
              </a:rPr>
              <a:t>2022,</a:t>
            </a:r>
            <a:r>
              <a:rPr lang="en-US" spc="5" dirty="0">
                <a:effectLst/>
              </a:rPr>
              <a:t> </a:t>
            </a:r>
            <a:r>
              <a:rPr lang="en-US" dirty="0">
                <a:effectLst/>
              </a:rPr>
              <a:t>pp.</a:t>
            </a:r>
            <a:r>
              <a:rPr lang="en-US" spc="5" dirty="0">
                <a:effectLst/>
              </a:rPr>
              <a:t> </a:t>
            </a:r>
            <a:r>
              <a:rPr lang="en-US" dirty="0">
                <a:effectLst/>
              </a:rPr>
              <a:t>1-5,</a:t>
            </a:r>
            <a:r>
              <a:rPr lang="en-US" spc="5" dirty="0">
                <a:effectLst/>
              </a:rPr>
              <a:t> </a:t>
            </a:r>
            <a:r>
              <a:rPr lang="en-US" dirty="0" err="1">
                <a:effectLst/>
              </a:rPr>
              <a:t>doi</a:t>
            </a:r>
            <a:r>
              <a:rPr lang="en-US" dirty="0">
                <a:effectLst/>
              </a:rPr>
              <a:t>:</a:t>
            </a:r>
            <a:r>
              <a:rPr lang="en-US" spc="5" dirty="0">
                <a:effectLst/>
              </a:rPr>
              <a:t> </a:t>
            </a:r>
            <a:r>
              <a:rPr lang="en-US" dirty="0">
                <a:effectLst/>
              </a:rPr>
              <a:t>10.1109/ICBATS54253.2022.9759039.</a:t>
            </a:r>
            <a:endParaRPr lang="en-US" dirty="0">
              <a:effectLst/>
            </a:endParaRPr>
          </a:p>
          <a:p>
            <a:pPr marR="0">
              <a:lnSpc>
                <a:spcPct val="90000"/>
              </a:lnSpc>
              <a:spcBef>
                <a:spcPts val="15"/>
              </a:spcBef>
              <a:spcAft>
                <a:spcPts val="0"/>
              </a:spcAft>
            </a:pPr>
            <a:r>
              <a:rPr lang="en-US" dirty="0">
                <a:effectLst/>
              </a:rPr>
              <a:t> </a:t>
            </a:r>
            <a:endParaRPr lang="en-US" dirty="0">
              <a:effectLst/>
            </a:endParaRPr>
          </a:p>
          <a:p>
            <a:pPr marR="92075">
              <a:lnSpc>
                <a:spcPct val="90000"/>
              </a:lnSpc>
              <a:spcBef>
                <a:spcPts val="5"/>
              </a:spcBef>
              <a:spcAft>
                <a:spcPts val="0"/>
              </a:spcAft>
            </a:pPr>
            <a:r>
              <a:rPr lang="en-US" dirty="0">
                <a:effectLst/>
              </a:rPr>
              <a:t>[3].</a:t>
            </a:r>
            <a:r>
              <a:rPr lang="en-US" spc="-25" dirty="0">
                <a:effectLst/>
              </a:rPr>
              <a:t> </a:t>
            </a:r>
            <a:r>
              <a:rPr lang="en-US" dirty="0">
                <a:effectLst/>
              </a:rPr>
              <a:t>R.</a:t>
            </a:r>
            <a:r>
              <a:rPr lang="en-US" spc="-25" dirty="0">
                <a:effectLst/>
              </a:rPr>
              <a:t> </a:t>
            </a:r>
            <a:r>
              <a:rPr lang="en-US" dirty="0" err="1">
                <a:effectLst/>
              </a:rPr>
              <a:t>Nomesh</a:t>
            </a:r>
            <a:r>
              <a:rPr lang="en-US" dirty="0">
                <a:effectLst/>
              </a:rPr>
              <a:t>.</a:t>
            </a:r>
            <a:r>
              <a:rPr lang="en-US" spc="-25" dirty="0">
                <a:effectLst/>
              </a:rPr>
              <a:t> </a:t>
            </a:r>
            <a:r>
              <a:rPr lang="en-US" dirty="0">
                <a:effectLst/>
              </a:rPr>
              <a:t>and</a:t>
            </a:r>
            <a:r>
              <a:rPr lang="en-US" spc="-25" dirty="0">
                <a:effectLst/>
              </a:rPr>
              <a:t> </a:t>
            </a:r>
            <a:r>
              <a:rPr lang="en-US" dirty="0">
                <a:effectLst/>
              </a:rPr>
              <a:t>M.</a:t>
            </a:r>
            <a:r>
              <a:rPr lang="en-US" spc="-20" dirty="0">
                <a:effectLst/>
              </a:rPr>
              <a:t> </a:t>
            </a:r>
            <a:r>
              <a:rPr lang="en-US" dirty="0">
                <a:effectLst/>
              </a:rPr>
              <a:t>S.</a:t>
            </a:r>
            <a:r>
              <a:rPr lang="en-US" spc="-25" dirty="0">
                <a:effectLst/>
              </a:rPr>
              <a:t> </a:t>
            </a:r>
            <a:r>
              <a:rPr lang="en-US" dirty="0">
                <a:effectLst/>
              </a:rPr>
              <a:t>Saravanan,</a:t>
            </a:r>
            <a:r>
              <a:rPr lang="en-US" spc="-25" dirty="0">
                <a:effectLst/>
              </a:rPr>
              <a:t> </a:t>
            </a:r>
            <a:r>
              <a:rPr lang="en-US" dirty="0">
                <a:effectLst/>
              </a:rPr>
              <a:t>"Classification</a:t>
            </a:r>
            <a:r>
              <a:rPr lang="en-US" spc="-25" dirty="0">
                <a:effectLst/>
              </a:rPr>
              <a:t> </a:t>
            </a:r>
            <a:r>
              <a:rPr lang="en-US" dirty="0">
                <a:effectLst/>
              </a:rPr>
              <a:t>of</a:t>
            </a:r>
            <a:r>
              <a:rPr lang="en-US" spc="-20" dirty="0">
                <a:effectLst/>
              </a:rPr>
              <a:t> </a:t>
            </a:r>
            <a:r>
              <a:rPr lang="en-US" dirty="0">
                <a:effectLst/>
              </a:rPr>
              <a:t>Fake</a:t>
            </a:r>
            <a:r>
              <a:rPr lang="en-US" spc="-25" dirty="0">
                <a:effectLst/>
              </a:rPr>
              <a:t> </a:t>
            </a:r>
            <a:r>
              <a:rPr lang="en-US" dirty="0">
                <a:effectLst/>
              </a:rPr>
              <a:t>News</a:t>
            </a:r>
            <a:r>
              <a:rPr lang="en-US" spc="-25" dirty="0">
                <a:effectLst/>
              </a:rPr>
              <a:t> </a:t>
            </a:r>
            <a:r>
              <a:rPr lang="en-US" dirty="0">
                <a:effectLst/>
              </a:rPr>
              <a:t>on</a:t>
            </a:r>
            <a:r>
              <a:rPr lang="en-US" spc="-25" dirty="0">
                <a:effectLst/>
              </a:rPr>
              <a:t> </a:t>
            </a:r>
            <a:r>
              <a:rPr lang="en-US" dirty="0">
                <a:effectLst/>
              </a:rPr>
              <a:t>Facebook</a:t>
            </a:r>
            <a:r>
              <a:rPr lang="en-US" spc="-20" dirty="0">
                <a:effectLst/>
              </a:rPr>
              <a:t> </a:t>
            </a:r>
            <a:r>
              <a:rPr lang="en-US" dirty="0">
                <a:effectLst/>
              </a:rPr>
              <a:t>a</a:t>
            </a:r>
            <a:r>
              <a:rPr lang="en-US" spc="-25" dirty="0">
                <a:effectLst/>
              </a:rPr>
              <a:t> </a:t>
            </a:r>
            <a:r>
              <a:rPr lang="en-US" dirty="0">
                <a:effectLst/>
              </a:rPr>
              <a:t>Novel</a:t>
            </a:r>
            <a:r>
              <a:rPr lang="en-US" spc="-25" dirty="0">
                <a:effectLst/>
              </a:rPr>
              <a:t> </a:t>
            </a:r>
            <a:r>
              <a:rPr lang="en-US" dirty="0">
                <a:effectLst/>
              </a:rPr>
              <a:t>Social</a:t>
            </a:r>
            <a:r>
              <a:rPr lang="en-US" spc="5" dirty="0">
                <a:effectLst/>
              </a:rPr>
              <a:t> </a:t>
            </a:r>
            <a:r>
              <a:rPr lang="en-US" dirty="0">
                <a:effectLst/>
              </a:rPr>
              <a:t>Network with K-Means Clustering Approach for Against Principal Component Analysis Method</a:t>
            </a:r>
            <a:r>
              <a:rPr lang="en-US" spc="5" dirty="0">
                <a:effectLst/>
              </a:rPr>
              <a:t> </a:t>
            </a:r>
            <a:r>
              <a:rPr lang="en-US" dirty="0">
                <a:effectLst/>
              </a:rPr>
              <a:t>for</a:t>
            </a:r>
            <a:r>
              <a:rPr lang="en-US" spc="5" dirty="0">
                <a:effectLst/>
              </a:rPr>
              <a:t> </a:t>
            </a:r>
            <a:r>
              <a:rPr lang="en-US" dirty="0">
                <a:effectLst/>
              </a:rPr>
              <a:t>Better</a:t>
            </a:r>
            <a:r>
              <a:rPr lang="en-US" spc="5" dirty="0">
                <a:effectLst/>
              </a:rPr>
              <a:t> </a:t>
            </a:r>
            <a:r>
              <a:rPr lang="en-US" dirty="0">
                <a:effectLst/>
              </a:rPr>
              <a:t>Accuracy,"</a:t>
            </a:r>
            <a:r>
              <a:rPr lang="en-US" spc="5" dirty="0">
                <a:effectLst/>
              </a:rPr>
              <a:t> </a:t>
            </a:r>
            <a:r>
              <a:rPr lang="en-US" dirty="0">
                <a:effectLst/>
              </a:rPr>
              <a:t>2022</a:t>
            </a:r>
            <a:r>
              <a:rPr lang="en-US" spc="5" dirty="0">
                <a:effectLst/>
              </a:rPr>
              <a:t> </a:t>
            </a:r>
            <a:r>
              <a:rPr lang="en-US" dirty="0">
                <a:effectLst/>
              </a:rPr>
              <a:t>3rd</a:t>
            </a:r>
            <a:r>
              <a:rPr lang="en-US" spc="5" dirty="0">
                <a:effectLst/>
              </a:rPr>
              <a:t> </a:t>
            </a:r>
            <a:r>
              <a:rPr lang="en-US" dirty="0">
                <a:effectLst/>
              </a:rPr>
              <a:t>International</a:t>
            </a:r>
            <a:r>
              <a:rPr lang="en-US" spc="5" dirty="0">
                <a:effectLst/>
              </a:rPr>
              <a:t> </a:t>
            </a:r>
            <a:r>
              <a:rPr lang="en-US" dirty="0">
                <a:effectLst/>
              </a:rPr>
              <a:t>Conference</a:t>
            </a:r>
            <a:r>
              <a:rPr lang="en-US" spc="5" dirty="0">
                <a:effectLst/>
              </a:rPr>
              <a:t> </a:t>
            </a:r>
            <a:r>
              <a:rPr lang="en-US" dirty="0">
                <a:effectLst/>
              </a:rPr>
              <a:t>on</a:t>
            </a:r>
            <a:r>
              <a:rPr lang="en-US" spc="5" dirty="0">
                <a:effectLst/>
              </a:rPr>
              <a:t> </a:t>
            </a:r>
            <a:r>
              <a:rPr lang="en-US" dirty="0">
                <a:effectLst/>
              </a:rPr>
              <a:t>Smart</a:t>
            </a:r>
            <a:r>
              <a:rPr lang="en-US" spc="5" dirty="0">
                <a:effectLst/>
              </a:rPr>
              <a:t> </a:t>
            </a:r>
            <a:r>
              <a:rPr lang="en-US" dirty="0">
                <a:effectLst/>
              </a:rPr>
              <a:t>Electronics</a:t>
            </a:r>
            <a:r>
              <a:rPr lang="en-US" spc="5" dirty="0">
                <a:effectLst/>
              </a:rPr>
              <a:t> </a:t>
            </a:r>
            <a:r>
              <a:rPr lang="en-US" dirty="0">
                <a:effectLst/>
              </a:rPr>
              <a:t>and</a:t>
            </a:r>
            <a:r>
              <a:rPr lang="en-US" spc="5" dirty="0">
                <a:effectLst/>
              </a:rPr>
              <a:t> </a:t>
            </a:r>
            <a:r>
              <a:rPr lang="en-US" dirty="0">
                <a:effectLst/>
              </a:rPr>
              <a:t>Communication</a:t>
            </a:r>
            <a:r>
              <a:rPr lang="en-US" spc="5" dirty="0">
                <a:effectLst/>
              </a:rPr>
              <a:t> </a:t>
            </a:r>
            <a:r>
              <a:rPr lang="en-US" dirty="0">
                <a:effectLst/>
              </a:rPr>
              <a:t>(ICOSEC),</a:t>
            </a:r>
            <a:r>
              <a:rPr lang="en-US" spc="5" dirty="0">
                <a:effectLst/>
              </a:rPr>
              <a:t> </a:t>
            </a:r>
            <a:r>
              <a:rPr lang="en-US" dirty="0">
                <a:effectLst/>
              </a:rPr>
              <a:t>Trichy,</a:t>
            </a:r>
            <a:r>
              <a:rPr lang="en-US" spc="5" dirty="0">
                <a:effectLst/>
              </a:rPr>
              <a:t> </a:t>
            </a:r>
            <a:r>
              <a:rPr lang="en-US" dirty="0">
                <a:effectLst/>
              </a:rPr>
              <a:t>India,</a:t>
            </a:r>
            <a:r>
              <a:rPr lang="en-US" spc="5" dirty="0">
                <a:effectLst/>
              </a:rPr>
              <a:t> </a:t>
            </a:r>
            <a:r>
              <a:rPr lang="en-US" dirty="0">
                <a:effectLst/>
              </a:rPr>
              <a:t>2022,</a:t>
            </a:r>
            <a:r>
              <a:rPr lang="en-US" spc="5" dirty="0">
                <a:effectLst/>
              </a:rPr>
              <a:t> </a:t>
            </a:r>
            <a:r>
              <a:rPr lang="en-US" dirty="0">
                <a:effectLst/>
              </a:rPr>
              <a:t>pp.</a:t>
            </a:r>
            <a:r>
              <a:rPr lang="en-US" spc="5" dirty="0">
                <a:effectLst/>
              </a:rPr>
              <a:t> </a:t>
            </a:r>
            <a:r>
              <a:rPr lang="en-US" dirty="0">
                <a:effectLst/>
              </a:rPr>
              <a:t>722-726,</a:t>
            </a:r>
            <a:r>
              <a:rPr lang="en-US" spc="5" dirty="0">
                <a:effectLst/>
              </a:rPr>
              <a:t> </a:t>
            </a:r>
            <a:r>
              <a:rPr lang="en-US" dirty="0" err="1">
                <a:effectLst/>
              </a:rPr>
              <a:t>doi</a:t>
            </a:r>
            <a:r>
              <a:rPr lang="en-US" dirty="0">
                <a:effectLst/>
              </a:rPr>
              <a:t>:</a:t>
            </a:r>
            <a:r>
              <a:rPr lang="en-US" spc="5" dirty="0">
                <a:effectLst/>
              </a:rPr>
              <a:t> </a:t>
            </a:r>
            <a:r>
              <a:rPr lang="en-US" dirty="0">
                <a:effectLst/>
              </a:rPr>
              <a:t>10.1109/ICOSEC54921.2022.9952063.</a:t>
            </a:r>
            <a:endParaRPr lang="en-US" dirty="0">
              <a:effectLst/>
            </a:endParaRPr>
          </a:p>
          <a:p>
            <a:pPr marR="0">
              <a:lnSpc>
                <a:spcPct val="90000"/>
              </a:lnSpc>
              <a:spcBef>
                <a:spcPts val="15"/>
              </a:spcBef>
              <a:spcAft>
                <a:spcPts val="0"/>
              </a:spcAft>
            </a:pPr>
            <a:r>
              <a:rPr lang="en-US" dirty="0">
                <a:effectLst/>
              </a:rPr>
              <a:t> </a:t>
            </a:r>
            <a:endParaRPr lang="en-US" dirty="0">
              <a:effectLst/>
            </a:endParaRPr>
          </a:p>
          <a:p>
            <a:pPr marR="90805">
              <a:lnSpc>
                <a:spcPct val="90000"/>
              </a:lnSpc>
              <a:spcBef>
                <a:spcPts val="0"/>
              </a:spcBef>
              <a:spcAft>
                <a:spcPts val="0"/>
              </a:spcAft>
            </a:pPr>
            <a:r>
              <a:rPr lang="en-US" dirty="0">
                <a:effectLst/>
              </a:rPr>
              <a:t>[4]. A. </a:t>
            </a:r>
            <a:r>
              <a:rPr lang="en-US" dirty="0" err="1">
                <a:effectLst/>
              </a:rPr>
              <a:t>Shete</a:t>
            </a:r>
            <a:r>
              <a:rPr lang="en-US" dirty="0">
                <a:effectLst/>
              </a:rPr>
              <a:t>, H. Soni, Z. </a:t>
            </a:r>
            <a:r>
              <a:rPr lang="en-US" dirty="0" err="1">
                <a:effectLst/>
              </a:rPr>
              <a:t>Sajnani</a:t>
            </a:r>
            <a:r>
              <a:rPr lang="en-US" dirty="0">
                <a:effectLst/>
              </a:rPr>
              <a:t> and A. </a:t>
            </a:r>
            <a:r>
              <a:rPr lang="en-US" dirty="0" err="1">
                <a:effectLst/>
              </a:rPr>
              <a:t>Shete</a:t>
            </a:r>
            <a:r>
              <a:rPr lang="en-US" dirty="0">
                <a:effectLst/>
              </a:rPr>
              <a:t>, "Fake News Detection Using Natural Language</a:t>
            </a:r>
            <a:r>
              <a:rPr lang="en-US" spc="5" dirty="0">
                <a:effectLst/>
              </a:rPr>
              <a:t> </a:t>
            </a:r>
            <a:r>
              <a:rPr lang="en-US" dirty="0">
                <a:effectLst/>
              </a:rPr>
              <a:t>Processing</a:t>
            </a:r>
            <a:r>
              <a:rPr lang="en-US" spc="5" dirty="0">
                <a:effectLst/>
              </a:rPr>
              <a:t> </a:t>
            </a:r>
            <a:r>
              <a:rPr lang="en-US" dirty="0">
                <a:effectLst/>
              </a:rPr>
              <a:t>and</a:t>
            </a:r>
            <a:r>
              <a:rPr lang="en-US" spc="5" dirty="0">
                <a:effectLst/>
              </a:rPr>
              <a:t> </a:t>
            </a:r>
            <a:r>
              <a:rPr lang="en-US" dirty="0">
                <a:effectLst/>
              </a:rPr>
              <a:t>Logistic</a:t>
            </a:r>
            <a:r>
              <a:rPr lang="en-US" spc="5" dirty="0">
                <a:effectLst/>
              </a:rPr>
              <a:t> </a:t>
            </a:r>
            <a:r>
              <a:rPr lang="en-US" dirty="0">
                <a:effectLst/>
              </a:rPr>
              <a:t>Regression,"</a:t>
            </a:r>
            <a:r>
              <a:rPr lang="en-US" spc="5" dirty="0">
                <a:effectLst/>
              </a:rPr>
              <a:t> </a:t>
            </a:r>
            <a:r>
              <a:rPr lang="en-US" dirty="0">
                <a:effectLst/>
              </a:rPr>
              <a:t>2021</a:t>
            </a:r>
            <a:r>
              <a:rPr lang="en-US" spc="5" dirty="0">
                <a:effectLst/>
              </a:rPr>
              <a:t> </a:t>
            </a:r>
            <a:r>
              <a:rPr lang="en-US" dirty="0">
                <a:effectLst/>
              </a:rPr>
              <a:t>2nd</a:t>
            </a:r>
            <a:r>
              <a:rPr lang="en-US" spc="5" dirty="0">
                <a:effectLst/>
              </a:rPr>
              <a:t> </a:t>
            </a:r>
            <a:r>
              <a:rPr lang="en-US" dirty="0">
                <a:effectLst/>
              </a:rPr>
              <a:t>International</a:t>
            </a:r>
            <a:r>
              <a:rPr lang="en-US" spc="5" dirty="0">
                <a:effectLst/>
              </a:rPr>
              <a:t> </a:t>
            </a:r>
            <a:r>
              <a:rPr lang="en-US" dirty="0">
                <a:effectLst/>
              </a:rPr>
              <a:t>Conference on Advances in</a:t>
            </a:r>
            <a:r>
              <a:rPr lang="en-US" spc="5" dirty="0">
                <a:effectLst/>
              </a:rPr>
              <a:t> </a:t>
            </a:r>
            <a:r>
              <a:rPr lang="en-US" dirty="0">
                <a:effectLst/>
              </a:rPr>
              <a:t>Computing, Communication, Embedded and Secure Systems (ACCESS), Ernakulam, India,</a:t>
            </a:r>
            <a:r>
              <a:rPr lang="en-US" spc="5" dirty="0">
                <a:effectLst/>
              </a:rPr>
              <a:t> </a:t>
            </a:r>
            <a:r>
              <a:rPr lang="en-US" dirty="0">
                <a:effectLst/>
              </a:rPr>
              <a:t>2021,</a:t>
            </a:r>
            <a:r>
              <a:rPr lang="en-US" spc="-15" dirty="0">
                <a:effectLst/>
              </a:rPr>
              <a:t> </a:t>
            </a:r>
            <a:r>
              <a:rPr lang="en-US" dirty="0">
                <a:effectLst/>
              </a:rPr>
              <a:t>pp.</a:t>
            </a:r>
            <a:r>
              <a:rPr lang="en-US" spc="-10" dirty="0">
                <a:effectLst/>
              </a:rPr>
              <a:t> </a:t>
            </a:r>
            <a:r>
              <a:rPr lang="en-US" dirty="0">
                <a:effectLst/>
              </a:rPr>
              <a:t>136-140,</a:t>
            </a:r>
            <a:r>
              <a:rPr lang="en-US" spc="-10" dirty="0">
                <a:effectLst/>
              </a:rPr>
              <a:t> </a:t>
            </a:r>
            <a:r>
              <a:rPr lang="en-US" dirty="0" err="1">
                <a:effectLst/>
              </a:rPr>
              <a:t>doi</a:t>
            </a:r>
            <a:r>
              <a:rPr lang="en-US" dirty="0">
                <a:effectLst/>
              </a:rPr>
              <a:t>:</a:t>
            </a:r>
            <a:r>
              <a:rPr lang="en-US" spc="-10" dirty="0">
                <a:effectLst/>
              </a:rPr>
              <a:t> </a:t>
            </a:r>
            <a:r>
              <a:rPr lang="en-US" dirty="0">
                <a:effectLst/>
              </a:rPr>
              <a:t>10.1109/ACCESS51619.2021.9563292.</a:t>
            </a:r>
            <a:endParaRPr lang="en-US" dirty="0">
              <a:effectLst/>
            </a:endParaRPr>
          </a:p>
          <a:p>
            <a:pPr indent="-228600">
              <a:lnSpc>
                <a:spcPct val="90000"/>
              </a:lnSpc>
              <a:buFont typeface="Arial" panose="020B0604020202020204" pitchFamily="34" charset="0"/>
              <a:buChar char="•"/>
            </a:pPr>
            <a:endParaRPr lang="en-US" sz="800" dirty="0"/>
          </a:p>
        </p:txBody>
      </p:sp>
      <p:pic>
        <p:nvPicPr>
          <p:cNvPr id="5" name="Picture 4" descr="A picture containing text, businesscard&#10;&#10;Description automatically generated"/>
          <p:cNvPicPr>
            <a:picLocks noChangeAspect="1"/>
          </p:cNvPicPr>
          <p:nvPr/>
        </p:nvPicPr>
        <p:blipFill rotWithShape="1">
          <a:blip r:embed="rId1">
            <a:extLst>
              <a:ext uri="{28A0092B-C50C-407E-A947-70E740481C1C}">
                <a14:useLocalDpi xmlns:a14="http://schemas.microsoft.com/office/drawing/2010/main" val="0"/>
              </a:ext>
            </a:extLst>
          </a:blip>
          <a:srcRect r="6588" b="-1"/>
          <a:stretch>
            <a:fillRect/>
          </a:stretch>
        </p:blipFill>
        <p:spPr>
          <a:xfrm>
            <a:off x="6800986" y="1759619"/>
            <a:ext cx="4747547" cy="336710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6298</Words>
  <Application>WPS Presentation</Application>
  <PresentationFormat>Widescreen</PresentationFormat>
  <Paragraphs>111</Paragraphs>
  <Slides>12</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12</vt:i4>
      </vt:variant>
    </vt:vector>
  </HeadingPairs>
  <TitlesOfParts>
    <vt:vector size="24" baseType="lpstr">
      <vt:lpstr>Arial</vt:lpstr>
      <vt:lpstr>SimSun</vt:lpstr>
      <vt:lpstr>Wingdings</vt:lpstr>
      <vt:lpstr>Times New Roman</vt:lpstr>
      <vt:lpstr>Calibri</vt:lpstr>
      <vt:lpstr>Söhne</vt:lpstr>
      <vt:lpstr>Segoe Print</vt:lpstr>
      <vt:lpstr>Microsoft YaHei</vt:lpstr>
      <vt:lpstr>Arial Unicode MS</vt:lpstr>
      <vt:lpstr>Calibri Light</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Fake News Prediction</dc:title>
  <dc:creator>Sushmitha Virri</dc:creator>
  <cp:lastModifiedBy>gowth</cp:lastModifiedBy>
  <cp:revision>110</cp:revision>
  <dcterms:created xsi:type="dcterms:W3CDTF">2023-02-21T13:27:00Z</dcterms:created>
  <dcterms:modified xsi:type="dcterms:W3CDTF">2023-04-26T02:57:08Z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73CA102653A54DAD93BBD21B530EBA38</vt:lpwstr>
  </property>
  <property fmtid="{D5CDD505-2E9C-101B-9397-08002B2CF9AE}" pid="3" name="KSOProductBuildVer">
    <vt:lpwstr>1033-11.2.0.11219</vt:lpwstr>
  </property>
</Properties>
</file>